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6"/>
  </p:notesMasterIdLst>
  <p:handoutMasterIdLst>
    <p:handoutMasterId r:id="rId27"/>
  </p:handoutMasterIdLst>
  <p:sldIdLst>
    <p:sldId id="256" r:id="rId5"/>
    <p:sldId id="289" r:id="rId6"/>
    <p:sldId id="295" r:id="rId7"/>
    <p:sldId id="304" r:id="rId8"/>
    <p:sldId id="305" r:id="rId9"/>
    <p:sldId id="302" r:id="rId10"/>
    <p:sldId id="306" r:id="rId11"/>
    <p:sldId id="303" r:id="rId12"/>
    <p:sldId id="291" r:id="rId13"/>
    <p:sldId id="296" r:id="rId14"/>
    <p:sldId id="293" r:id="rId15"/>
    <p:sldId id="307" r:id="rId16"/>
    <p:sldId id="294" r:id="rId17"/>
    <p:sldId id="299" r:id="rId18"/>
    <p:sldId id="300" r:id="rId19"/>
    <p:sldId id="301" r:id="rId20"/>
    <p:sldId id="290" r:id="rId21"/>
    <p:sldId id="297" r:id="rId22"/>
    <p:sldId id="292" r:id="rId23"/>
    <p:sldId id="298" r:id="rId24"/>
    <p:sldId id="288" r:id="rId2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48B088-63BC-4D07-A405-78C4D466AFD5}" v="1095" dt="2026-05-03T15:44:38.949"/>
    <p1510:client id="{2EFEFE9F-40FF-4880-860F-107C299B65E3}" v="1663" dt="2026-05-03T15:42:54.08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FB40C-990B-5EB9-FD50-E0F524E0DD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100435-F996-02DE-6E67-1097428945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EC6AAB-4DB4-772C-4450-8D110B00511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C9AEED5-64BA-504A-C3D5-025903FCAB3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709523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384871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sv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nchor="t">
            <a:spAutoFit/>
          </a:bodyPr>
          <a:lstStyle/>
          <a:p>
            <a:pPr marL="12700">
              <a:spcBef>
                <a:spcPts val="100"/>
              </a:spcBef>
            </a:pPr>
            <a:r>
              <a:rPr lang="es-ES" spc="165" err="1">
                <a:latin typeface="Arial"/>
                <a:cs typeface="Arial"/>
              </a:rPr>
              <a:t>Student</a:t>
            </a:r>
            <a:r>
              <a:rPr lang="es-ES" spc="165">
                <a:latin typeface="Arial"/>
                <a:cs typeface="Arial"/>
              </a:rPr>
              <a:t>: María Ros Téllez - Antonio González López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Terminal +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COUPLERS_Student.ipynb</a:t>
            </a:r>
            <a:r>
              <a:rPr lang="en-US" kern="0">
                <a:solidFill>
                  <a:sysClr val="windowText" lastClr="000000"/>
                </a:solidFill>
              </a:rPr>
              <a:t> </a:t>
            </a:r>
          </a:p>
          <a:p>
            <a:pPr algn="just"/>
            <a:endParaRPr lang="en-US" b="1" i="1"/>
          </a:p>
          <a:p>
            <a:pPr algn="just"/>
            <a:r>
              <a:rPr lang="en-US" b="1" i="1"/>
              <a:t>Cross-Sections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lang="es-ES" sz="1600" b="1" spc="-10">
                <a:latin typeface="Calibri"/>
                <a:cs typeface="Calibri"/>
              </a:rPr>
              <a:t>MMI </a:t>
            </a:r>
            <a:r>
              <a:rPr lang="es-ES" sz="1600" b="1" spc="-10" err="1">
                <a:latin typeface="Calibri"/>
                <a:cs typeface="Calibri"/>
              </a:rPr>
              <a:t>Body</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a:t>Multimode Interference (MMI) </a:t>
            </a:r>
            <a:r>
              <a:rPr lang="en-US"/>
              <a:t>coupler</a:t>
            </a:r>
            <a:r>
              <a:rPr lang="en-US" b="1"/>
              <a:t> </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a:t>Directional </a:t>
            </a:r>
            <a:r>
              <a:rPr lang="en-US"/>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a:latin typeface="Calibri"/>
                <a:cs typeface="Calibri"/>
              </a:rPr>
              <a:t>g</a:t>
            </a:r>
            <a:endParaRPr sz="1400">
              <a:latin typeface="Calibri"/>
              <a:cs typeface="Calibri"/>
            </a:endParaRPr>
          </a:p>
          <a:p>
            <a:pPr marR="5080" algn="ctr">
              <a:lnSpc>
                <a:spcPct val="100000"/>
              </a:lnSpc>
              <a:spcBef>
                <a:spcPts val="5"/>
              </a:spcBef>
            </a:pPr>
            <a:r>
              <a:rPr sz="1400" spc="-10">
                <a:latin typeface="Calibri"/>
                <a:cs typeface="Calibri"/>
              </a:rPr>
              <a:t>(</a:t>
            </a:r>
            <a:r>
              <a:rPr lang="es-ES" sz="1400" spc="-10">
                <a:latin typeface="Calibri"/>
                <a:cs typeface="Calibri"/>
              </a:rPr>
              <a:t>gap</a:t>
            </a:r>
            <a:r>
              <a:rPr sz="140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r>
                  <a:rPr lang="en-US" sz="2000" kern="0">
                    <a:solidFill>
                      <a:sysClr val="windowText" lastClr="000000"/>
                    </a:solidFill>
                  </a:rPr>
                  <a:t> </a:t>
                </a: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534989" y="5141437"/>
            <a:ext cx="1127290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10" name="Imagen 9" descr="Texto&#10;&#10;El contenido generado por IA puede ser incorrecto.">
            <a:extLst>
              <a:ext uri="{FF2B5EF4-FFF2-40B4-BE49-F238E27FC236}">
                <a16:creationId xmlns:a16="http://schemas.microsoft.com/office/drawing/2014/main" id="{4DA425C2-8E13-06AC-8E12-7AFCE7E766F0}"/>
              </a:ext>
            </a:extLst>
          </p:cNvPr>
          <p:cNvPicPr>
            <a:picLocks noChangeAspect="1"/>
          </p:cNvPicPr>
          <p:nvPr/>
        </p:nvPicPr>
        <p:blipFill>
          <a:blip r:embed="rId5"/>
          <a:stretch>
            <a:fillRect/>
          </a:stretch>
        </p:blipFill>
        <p:spPr>
          <a:xfrm>
            <a:off x="1875572" y="3780627"/>
            <a:ext cx="3514204" cy="1079196"/>
          </a:xfrm>
          <a:prstGeom prst="rect">
            <a:avLst/>
          </a:prstGeom>
        </p:spPr>
      </p:pic>
      <p:pic>
        <p:nvPicPr>
          <p:cNvPr id="11" name="Imagen 10" descr="Texto&#10;&#10;El contenido generado por IA puede ser incorrecto.">
            <a:extLst>
              <a:ext uri="{FF2B5EF4-FFF2-40B4-BE49-F238E27FC236}">
                <a16:creationId xmlns:a16="http://schemas.microsoft.com/office/drawing/2014/main" id="{B345DE4B-4F9C-19FB-557C-814F39C7F518}"/>
              </a:ext>
            </a:extLst>
          </p:cNvPr>
          <p:cNvPicPr>
            <a:picLocks noChangeAspect="1"/>
          </p:cNvPicPr>
          <p:nvPr/>
        </p:nvPicPr>
        <p:blipFill>
          <a:blip r:embed="rId6"/>
          <a:stretch>
            <a:fillRect/>
          </a:stretch>
        </p:blipFill>
        <p:spPr>
          <a:xfrm>
            <a:off x="6778898" y="3591693"/>
            <a:ext cx="2941790" cy="1457065"/>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7D5BF7D-0789-5BF6-83CE-E91CD005E3B7}"/>
              </a:ext>
            </a:extLst>
          </p:cNvPr>
          <p:cNvSpPr>
            <a:spLocks noGrp="1"/>
          </p:cNvSpPr>
          <p:nvPr>
            <p:ph type="ftr" sz="quarter" idx="5"/>
          </p:nvPr>
        </p:nvSpPr>
        <p:spPr>
          <a:xfrm>
            <a:off x="197680" y="4827558"/>
            <a:ext cx="3022997" cy="232832"/>
          </a:xfrm>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B8191C79-D95C-7C21-4890-31B3CE33E98D}"/>
              </a:ext>
            </a:extLst>
          </p:cNvPr>
          <p:cNvSpPr>
            <a:spLocks noGrp="1"/>
          </p:cNvSpPr>
          <p:nvPr>
            <p:ph type="sldNum" sz="quarter" idx="7"/>
          </p:nvPr>
        </p:nvSpPr>
        <p:spPr/>
        <p:txBody>
          <a:bodyPr/>
          <a:lstStyle/>
          <a:p>
            <a:fld id="{B6F15528-21DE-4FAA-801E-634DDDAF4B2B}" type="slidenum">
              <a:rPr lang="es-ES"/>
              <a:t>5</a:t>
            </a:fld>
            <a:endParaRPr lang="es-ES"/>
          </a:p>
        </p:txBody>
      </p:sp>
      <p:sp>
        <p:nvSpPr>
          <p:cNvPr id="7" name="object 16">
            <a:extLst>
              <a:ext uri="{FF2B5EF4-FFF2-40B4-BE49-F238E27FC236}">
                <a16:creationId xmlns:a16="http://schemas.microsoft.com/office/drawing/2014/main" id="{0DB8A5D2-FFE1-F372-5F53-757659D71671}"/>
              </a:ext>
            </a:extLst>
          </p:cNvPr>
          <p:cNvSpPr txBox="1">
            <a:spLocks/>
          </p:cNvSpPr>
          <p:nvPr/>
        </p:nvSpPr>
        <p:spPr>
          <a:xfrm>
            <a:off x="685800" y="408883"/>
            <a:ext cx="10994410" cy="78226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#1 – Directional coupler cross-section in </a:t>
            </a:r>
            <a:r>
              <a:rPr lang="en-US" sz="2500" kern="0" err="1"/>
              <a:t>GDSFactory</a:t>
            </a:r>
            <a:br>
              <a:rPr lang="en-US" sz="2500" kern="0" spc="-5">
                <a:latin typeface="+mj-lt"/>
                <a:cs typeface="Lucida Sans"/>
              </a:rPr>
            </a:br>
            <a:endParaRPr lang="en-US" sz="2500" b="0" kern="0">
              <a:latin typeface="+mj-lt"/>
              <a:cs typeface="Lucida Sans"/>
            </a:endParaRPr>
          </a:p>
        </p:txBody>
      </p:sp>
      <p:pic>
        <p:nvPicPr>
          <p:cNvPr id="8" name="Imagen 7" descr="Gráfico&#10;&#10;El contenido generado por IA puede ser incorrecto.">
            <a:extLst>
              <a:ext uri="{FF2B5EF4-FFF2-40B4-BE49-F238E27FC236}">
                <a16:creationId xmlns:a16="http://schemas.microsoft.com/office/drawing/2014/main" id="{669845E7-0B4E-5362-6A6F-DA3886C624AB}"/>
              </a:ext>
            </a:extLst>
          </p:cNvPr>
          <p:cNvPicPr>
            <a:picLocks noChangeAspect="1"/>
          </p:cNvPicPr>
          <p:nvPr/>
        </p:nvPicPr>
        <p:blipFill>
          <a:blip r:embed="rId2"/>
          <a:stretch>
            <a:fillRect/>
          </a:stretch>
        </p:blipFill>
        <p:spPr>
          <a:xfrm>
            <a:off x="6180863" y="4523940"/>
            <a:ext cx="2459777" cy="1781513"/>
          </a:xfrm>
          <a:prstGeom prst="rect">
            <a:avLst/>
          </a:prstGeom>
        </p:spPr>
      </p:pic>
      <p:pic>
        <p:nvPicPr>
          <p:cNvPr id="10" name="Imagen 9">
            <a:extLst>
              <a:ext uri="{FF2B5EF4-FFF2-40B4-BE49-F238E27FC236}">
                <a16:creationId xmlns:a16="http://schemas.microsoft.com/office/drawing/2014/main" id="{4044A63B-EE93-3FF6-A32B-F4F2BF1E0A9D}"/>
              </a:ext>
            </a:extLst>
          </p:cNvPr>
          <p:cNvPicPr>
            <a:picLocks noChangeAspect="1"/>
          </p:cNvPicPr>
          <p:nvPr/>
        </p:nvPicPr>
        <p:blipFill>
          <a:blip r:embed="rId3"/>
          <a:stretch>
            <a:fillRect/>
          </a:stretch>
        </p:blipFill>
        <p:spPr>
          <a:xfrm>
            <a:off x="99875" y="1303847"/>
            <a:ext cx="3324460" cy="2246184"/>
          </a:xfrm>
          <a:prstGeom prst="rect">
            <a:avLst/>
          </a:prstGeom>
        </p:spPr>
      </p:pic>
      <p:pic>
        <p:nvPicPr>
          <p:cNvPr id="2" name="Imagen 1">
            <a:extLst>
              <a:ext uri="{FF2B5EF4-FFF2-40B4-BE49-F238E27FC236}">
                <a16:creationId xmlns:a16="http://schemas.microsoft.com/office/drawing/2014/main" id="{D271FCF0-B0D2-DC35-BE62-93FA60B200E9}"/>
              </a:ext>
            </a:extLst>
          </p:cNvPr>
          <p:cNvPicPr>
            <a:picLocks noChangeAspect="1"/>
          </p:cNvPicPr>
          <p:nvPr/>
        </p:nvPicPr>
        <p:blipFill>
          <a:blip r:embed="rId4"/>
          <a:stretch>
            <a:fillRect/>
          </a:stretch>
        </p:blipFill>
        <p:spPr>
          <a:xfrm>
            <a:off x="176933" y="3856797"/>
            <a:ext cx="3043744" cy="2075974"/>
          </a:xfrm>
          <a:prstGeom prst="rect">
            <a:avLst/>
          </a:prstGeom>
        </p:spPr>
      </p:pic>
      <p:pic>
        <p:nvPicPr>
          <p:cNvPr id="11" name="Imagen 10">
            <a:extLst>
              <a:ext uri="{FF2B5EF4-FFF2-40B4-BE49-F238E27FC236}">
                <a16:creationId xmlns:a16="http://schemas.microsoft.com/office/drawing/2014/main" id="{7F14689C-354C-F507-FDEF-5B89321205B4}"/>
              </a:ext>
            </a:extLst>
          </p:cNvPr>
          <p:cNvPicPr>
            <a:picLocks noChangeAspect="1"/>
          </p:cNvPicPr>
          <p:nvPr/>
        </p:nvPicPr>
        <p:blipFill>
          <a:blip r:embed="rId5"/>
          <a:stretch>
            <a:fillRect/>
          </a:stretch>
        </p:blipFill>
        <p:spPr>
          <a:xfrm>
            <a:off x="2819730" y="1316847"/>
            <a:ext cx="3477286" cy="2246184"/>
          </a:xfrm>
          <a:prstGeom prst="rect">
            <a:avLst/>
          </a:prstGeom>
        </p:spPr>
      </p:pic>
      <p:pic>
        <p:nvPicPr>
          <p:cNvPr id="6" name="Imagen 5" descr="Gráfico&#10;&#10;El contenido generado por IA puede ser incorrecto.">
            <a:extLst>
              <a:ext uri="{FF2B5EF4-FFF2-40B4-BE49-F238E27FC236}">
                <a16:creationId xmlns:a16="http://schemas.microsoft.com/office/drawing/2014/main" id="{5BDC3758-64E7-3FA6-5EC3-D84FFC8DD925}"/>
              </a:ext>
            </a:extLst>
          </p:cNvPr>
          <p:cNvPicPr>
            <a:picLocks noChangeAspect="1"/>
          </p:cNvPicPr>
          <p:nvPr/>
        </p:nvPicPr>
        <p:blipFill>
          <a:blip r:embed="rId6"/>
          <a:stretch>
            <a:fillRect/>
          </a:stretch>
        </p:blipFill>
        <p:spPr>
          <a:xfrm>
            <a:off x="3088182" y="3918987"/>
            <a:ext cx="3138582" cy="2106248"/>
          </a:xfrm>
          <a:prstGeom prst="rect">
            <a:avLst/>
          </a:prstGeom>
        </p:spPr>
      </p:pic>
      <p:sp>
        <p:nvSpPr>
          <p:cNvPr id="9" name="CuadroTexto 8">
            <a:extLst>
              <a:ext uri="{FF2B5EF4-FFF2-40B4-BE49-F238E27FC236}">
                <a16:creationId xmlns:a16="http://schemas.microsoft.com/office/drawing/2014/main" id="{1109EDD8-EBE7-45D0-FB82-AA4BEAB756FE}"/>
              </a:ext>
            </a:extLst>
          </p:cNvPr>
          <p:cNvSpPr txBox="1"/>
          <p:nvPr/>
        </p:nvSpPr>
        <p:spPr>
          <a:xfrm>
            <a:off x="525217" y="3020494"/>
            <a:ext cx="2130815" cy="369332"/>
          </a:xfrm>
          <a:prstGeom prst="rect">
            <a:avLst/>
          </a:prstGeom>
          <a:noFill/>
        </p:spPr>
        <p:txBody>
          <a:bodyPr wrap="square" rtlCol="0">
            <a:spAutoFit/>
          </a:bodyPr>
          <a:lstStyle/>
          <a:p>
            <a:pPr algn="ctr"/>
            <a:r>
              <a:rPr lang="es-ES" dirty="0"/>
              <a:t>Modo 0 (TE0)</a:t>
            </a:r>
          </a:p>
        </p:txBody>
      </p:sp>
      <p:sp>
        <p:nvSpPr>
          <p:cNvPr id="12" name="CuadroTexto 11">
            <a:extLst>
              <a:ext uri="{FF2B5EF4-FFF2-40B4-BE49-F238E27FC236}">
                <a16:creationId xmlns:a16="http://schemas.microsoft.com/office/drawing/2014/main" id="{280E9D4D-A033-89B9-2E6C-4478F1238790}"/>
              </a:ext>
            </a:extLst>
          </p:cNvPr>
          <p:cNvSpPr txBox="1"/>
          <p:nvPr/>
        </p:nvSpPr>
        <p:spPr>
          <a:xfrm>
            <a:off x="671804" y="5826325"/>
            <a:ext cx="2130815" cy="369332"/>
          </a:xfrm>
          <a:prstGeom prst="rect">
            <a:avLst/>
          </a:prstGeom>
          <a:noFill/>
        </p:spPr>
        <p:txBody>
          <a:bodyPr wrap="square" rtlCol="0">
            <a:spAutoFit/>
          </a:bodyPr>
          <a:lstStyle/>
          <a:p>
            <a:pPr algn="ctr"/>
            <a:r>
              <a:rPr lang="es-ES" dirty="0"/>
              <a:t>Modo 1 (TM0)</a:t>
            </a:r>
          </a:p>
        </p:txBody>
      </p:sp>
      <p:sp>
        <p:nvSpPr>
          <p:cNvPr id="13" name="CuadroTexto 12">
            <a:extLst>
              <a:ext uri="{FF2B5EF4-FFF2-40B4-BE49-F238E27FC236}">
                <a16:creationId xmlns:a16="http://schemas.microsoft.com/office/drawing/2014/main" id="{3481ED06-7F8D-D554-8DF8-EBC15BAF73AD}"/>
              </a:ext>
            </a:extLst>
          </p:cNvPr>
          <p:cNvSpPr txBox="1"/>
          <p:nvPr/>
        </p:nvSpPr>
        <p:spPr>
          <a:xfrm>
            <a:off x="3399453" y="3071080"/>
            <a:ext cx="2130815" cy="369332"/>
          </a:xfrm>
          <a:prstGeom prst="rect">
            <a:avLst/>
          </a:prstGeom>
          <a:noFill/>
        </p:spPr>
        <p:txBody>
          <a:bodyPr wrap="square" rtlCol="0">
            <a:spAutoFit/>
          </a:bodyPr>
          <a:lstStyle/>
          <a:p>
            <a:pPr algn="ctr"/>
            <a:r>
              <a:rPr lang="es-ES" dirty="0"/>
              <a:t>Modo 2 (TE0)</a:t>
            </a:r>
          </a:p>
        </p:txBody>
      </p:sp>
      <p:sp>
        <p:nvSpPr>
          <p:cNvPr id="15" name="CuadroTexto 14">
            <a:extLst>
              <a:ext uri="{FF2B5EF4-FFF2-40B4-BE49-F238E27FC236}">
                <a16:creationId xmlns:a16="http://schemas.microsoft.com/office/drawing/2014/main" id="{69911074-27C3-F16F-661F-1BBD43DB0488}"/>
              </a:ext>
            </a:extLst>
          </p:cNvPr>
          <p:cNvSpPr txBox="1"/>
          <p:nvPr/>
        </p:nvSpPr>
        <p:spPr>
          <a:xfrm>
            <a:off x="3492965" y="5826325"/>
            <a:ext cx="2130815" cy="369332"/>
          </a:xfrm>
          <a:prstGeom prst="rect">
            <a:avLst/>
          </a:prstGeom>
          <a:noFill/>
        </p:spPr>
        <p:txBody>
          <a:bodyPr wrap="square" rtlCol="0">
            <a:spAutoFit/>
          </a:bodyPr>
          <a:lstStyle/>
          <a:p>
            <a:pPr algn="ctr"/>
            <a:r>
              <a:rPr lang="es-ES" dirty="0"/>
              <a:t>Modo 3 (TM1)</a:t>
            </a:r>
          </a:p>
        </p:txBody>
      </p:sp>
      <p:pic>
        <p:nvPicPr>
          <p:cNvPr id="17" name="Imagen 16">
            <a:extLst>
              <a:ext uri="{FF2B5EF4-FFF2-40B4-BE49-F238E27FC236}">
                <a16:creationId xmlns:a16="http://schemas.microsoft.com/office/drawing/2014/main" id="{3F9DD7E1-FA34-7155-ED02-E3802E2682CC}"/>
              </a:ext>
            </a:extLst>
          </p:cNvPr>
          <p:cNvPicPr>
            <a:picLocks noChangeAspect="1"/>
          </p:cNvPicPr>
          <p:nvPr/>
        </p:nvPicPr>
        <p:blipFill>
          <a:blip r:embed="rId7"/>
          <a:stretch>
            <a:fillRect/>
          </a:stretch>
        </p:blipFill>
        <p:spPr>
          <a:xfrm>
            <a:off x="9075229" y="4815207"/>
            <a:ext cx="2459778" cy="891224"/>
          </a:xfrm>
          <a:prstGeom prst="rect">
            <a:avLst/>
          </a:prstGeom>
        </p:spPr>
      </p:pic>
      <p:sp>
        <p:nvSpPr>
          <p:cNvPr id="18" name="CuadroTexto 17">
            <a:extLst>
              <a:ext uri="{FF2B5EF4-FFF2-40B4-BE49-F238E27FC236}">
                <a16:creationId xmlns:a16="http://schemas.microsoft.com/office/drawing/2014/main" id="{B3788FBC-2F74-06E1-2F5D-B68DD1A71E4F}"/>
              </a:ext>
            </a:extLst>
          </p:cNvPr>
          <p:cNvSpPr txBox="1"/>
          <p:nvPr/>
        </p:nvSpPr>
        <p:spPr>
          <a:xfrm>
            <a:off x="6549632" y="1599428"/>
            <a:ext cx="4972933" cy="286232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la </a:t>
            </a:r>
            <a:r>
              <a:rPr lang="en-US" sz="1200" dirty="0" err="1">
                <a:latin typeface="Arial" panose="020B0604020202020204" pitchFamily="34" charset="0"/>
                <a:cs typeface="Arial" panose="020B0604020202020204" pitchFamily="34" charset="0"/>
              </a:rPr>
              <a:t>diapositiva</a:t>
            </a:r>
            <a:r>
              <a:rPr lang="en-US" sz="1200" dirty="0">
                <a:latin typeface="Arial" panose="020B0604020202020204" pitchFamily="34" charset="0"/>
                <a:cs typeface="Arial" panose="020B0604020202020204" pitchFamily="34" charset="0"/>
              </a:rPr>
              <a:t> anterior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fracción</a:t>
            </a:r>
            <a:r>
              <a:rPr lang="en-US" sz="1200" dirty="0">
                <a:latin typeface="Arial" panose="020B0604020202020204" pitchFamily="34" charset="0"/>
                <a:cs typeface="Arial" panose="020B0604020202020204" pitchFamily="34" charset="0"/>
              </a:rPr>
              <a:t> de TE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0 y 1 es </a:t>
            </a:r>
            <a:r>
              <a:rPr lang="en-US" sz="1200" dirty="0" err="1">
                <a:latin typeface="Arial" panose="020B0604020202020204" pitchFamily="34" charset="0"/>
                <a:cs typeface="Arial" panose="020B0604020202020204" pitchFamily="34" charset="0"/>
              </a:rPr>
              <a:t>prácticamente</a:t>
            </a:r>
            <a:r>
              <a:rPr lang="en-US" sz="1200" dirty="0">
                <a:latin typeface="Arial" panose="020B0604020202020204" pitchFamily="34" charset="0"/>
                <a:cs typeface="Arial" panose="020B0604020202020204" pitchFamily="34" charset="0"/>
              </a:rPr>
              <a:t> 1, y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2 y 3 </a:t>
            </a:r>
            <a:r>
              <a:rPr lang="en-US" sz="1200" dirty="0" err="1">
                <a:latin typeface="Arial" panose="020B0604020202020204" pitchFamily="34" charset="0"/>
                <a:cs typeface="Arial" panose="020B0604020202020204" pitchFamily="34" charset="0"/>
              </a:rPr>
              <a:t>sucede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igual</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fracción</a:t>
            </a:r>
            <a:r>
              <a:rPr lang="en-US" sz="1200" dirty="0">
                <a:latin typeface="Arial" panose="020B0604020202020204" pitchFamily="34" charset="0"/>
                <a:cs typeface="Arial" panose="020B0604020202020204" pitchFamily="34" charset="0"/>
              </a:rPr>
              <a:t> TM. Por lo tanto,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0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TE0,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1 al TE1,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2 al TM0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3 al TM1.</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las </a:t>
            </a:r>
            <a:r>
              <a:rPr lang="en-US" sz="1200" dirty="0" err="1">
                <a:latin typeface="Arial" panose="020B0604020202020204" pitchFamily="34" charset="0"/>
                <a:cs typeface="Arial" panose="020B0604020202020204" pitchFamily="34" charset="0"/>
              </a:rPr>
              <a:t>imágenes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representan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claramente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y TM,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primeros se </a:t>
            </a:r>
            <a:r>
              <a:rPr lang="en-US" sz="1200" dirty="0" err="1">
                <a:latin typeface="Arial" panose="020B0604020202020204" pitchFamily="34" charset="0"/>
                <a:cs typeface="Arial" panose="020B0604020202020204" pitchFamily="34" charset="0"/>
              </a:rPr>
              <a:t>representan</a:t>
            </a:r>
            <a:r>
              <a:rPr lang="en-US" sz="1200" dirty="0">
                <a:latin typeface="Arial" panose="020B0604020202020204" pitchFamily="34" charset="0"/>
                <a:cs typeface="Arial" panose="020B0604020202020204" pitchFamily="34" charset="0"/>
              </a:rPr>
              <a:t> la magnitudes de Ex y, para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segundos</a:t>
            </a:r>
            <a:r>
              <a:rPr lang="en-US" sz="1200" dirty="0">
                <a:latin typeface="Arial" panose="020B0604020202020204" pitchFamily="34" charset="0"/>
                <a:cs typeface="Arial" panose="020B0604020202020204" pitchFamily="34" charset="0"/>
              </a:rPr>
              <a:t>, la de Ey.</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se </a:t>
            </a:r>
            <a:r>
              <a:rPr lang="en-US" sz="1200" dirty="0" err="1">
                <a:latin typeface="Arial" panose="020B0604020202020204" pitchFamily="34" charset="0"/>
                <a:cs typeface="Arial" panose="020B0604020202020204" pitchFamily="34" charset="0"/>
              </a:rPr>
              <a:t>busca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de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paralelo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ser de 93.838 </a:t>
            </a:r>
            <a:r>
              <a:rPr lang="el-GR" sz="1200" dirty="0">
                <a:latin typeface="Arial" panose="020B0604020202020204" pitchFamily="34" charset="0"/>
                <a:ea typeface="Cambria Math" panose="02040503050406030204" pitchFamily="18" charset="0"/>
                <a:cs typeface="Arial" panose="020B0604020202020204" pitchFamily="34" charset="0"/>
              </a:rPr>
              <a:t>μ</a:t>
            </a:r>
            <a:r>
              <a:rPr lang="es-ES" sz="1200" dirty="0">
                <a:latin typeface="Arial" panose="020B0604020202020204" pitchFamily="34" charset="0"/>
                <a:ea typeface="Cambria Math" panose="02040503050406030204" pitchFamily="18" charset="0"/>
                <a:cs typeface="Arial" panose="020B0604020202020204" pitchFamily="34" charset="0"/>
              </a:rPr>
              <a:t>m, mientras que si se quiere acoplar los modos TM, la longitud debe ser 52.260</a:t>
            </a:r>
            <a:r>
              <a:rPr lang="el-GR" sz="1200" dirty="0">
                <a:latin typeface="Arial" panose="020B0604020202020204" pitchFamily="34" charset="0"/>
                <a:ea typeface="Cambria Math" panose="02040503050406030204" pitchFamily="18" charset="0"/>
                <a:cs typeface="Arial" panose="020B0604020202020204" pitchFamily="34" charset="0"/>
              </a:rPr>
              <a:t> μ</a:t>
            </a:r>
            <a:r>
              <a:rPr lang="es-ES" sz="1200" dirty="0">
                <a:latin typeface="Arial" panose="020B0604020202020204" pitchFamily="34" charset="0"/>
                <a:ea typeface="Cambria Math" panose="02040503050406030204" pitchFamily="18" charset="0"/>
                <a:cs typeface="Arial" panose="020B0604020202020204" pitchFamily="34" charset="0"/>
              </a:rPr>
              <a:t>m. Esto sucede porque el modo TM se encuentra menos confinado, por lo que se acopla antes.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6167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Las dos </a:t>
            </a:r>
            <a:r>
              <a:rPr lang="en-US" sz="1200" dirty="0" err="1">
                <a:latin typeface="Arial" panose="020B0604020202020204" pitchFamily="34" charset="0"/>
                <a:cs typeface="Arial" panose="020B0604020202020204" pitchFamily="34" charset="0"/>
              </a:rPr>
              <a:t>gráficas</a:t>
            </a:r>
            <a:r>
              <a:rPr lang="en-US" sz="1200" dirty="0">
                <a:latin typeface="Arial" panose="020B0604020202020204" pitchFamily="34" charset="0"/>
                <a:cs typeface="Arial" panose="020B0604020202020204" pitchFamily="34" charset="0"/>
              </a:rPr>
              <a:t>, tanto para TE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TM, son </a:t>
            </a:r>
            <a:r>
              <a:rPr lang="en-US" sz="1200" dirty="0" err="1">
                <a:latin typeface="Arial" panose="020B0604020202020204" pitchFamily="34" charset="0"/>
                <a:cs typeface="Arial" panose="020B0604020202020204" pitchFamily="34" charset="0"/>
              </a:rPr>
              <a:t>iguales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puesto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eje</a:t>
            </a:r>
            <a:r>
              <a:rPr lang="en-US" sz="1200" dirty="0">
                <a:latin typeface="Arial" panose="020B0604020202020204" pitchFamily="34" charset="0"/>
                <a:cs typeface="Arial" panose="020B0604020202020204" pitchFamily="34" charset="0"/>
              </a:rPr>
              <a:t> X se ha </a:t>
            </a:r>
            <a:r>
              <a:rPr lang="en-US" sz="1200" dirty="0" err="1">
                <a:latin typeface="Arial" panose="020B0604020202020204" pitchFamily="34" charset="0"/>
                <a:cs typeface="Arial" panose="020B0604020202020204" pitchFamily="34" charset="0"/>
              </a:rPr>
              <a:t>hecho</a:t>
            </a:r>
            <a:r>
              <a:rPr lang="en-US" sz="1200" dirty="0">
                <a:latin typeface="Arial" panose="020B0604020202020204" pitchFamily="34" charset="0"/>
                <a:cs typeface="Arial" panose="020B0604020202020204" pitchFamily="34" charset="0"/>
              </a:rPr>
              <a:t> de forma </a:t>
            </a:r>
            <a:r>
              <a:rPr lang="en-US" sz="1200" dirty="0" err="1">
                <a:latin typeface="Arial" panose="020B0604020202020204" pitchFamily="34" charset="0"/>
                <a:cs typeface="Arial" panose="020B0604020202020204" pitchFamily="34" charset="0"/>
              </a:rPr>
              <a:t>relativa</a:t>
            </a:r>
            <a:r>
              <a:rPr lang="en-US" sz="1200" dirty="0">
                <a:latin typeface="Arial" panose="020B0604020202020204" pitchFamily="34" charset="0"/>
                <a:cs typeface="Arial" panose="020B0604020202020204" pitchFamily="34" charset="0"/>
              </a:rPr>
              <a:t> a la </a:t>
            </a:r>
            <a:r>
              <a:rPr lang="es-ES" sz="1200" dirty="0">
                <a:latin typeface="Arial" panose="020B0604020202020204" pitchFamily="34" charset="0"/>
                <a:cs typeface="Arial" panose="020B0604020202020204" pitchFamily="34" charset="0"/>
              </a:rPr>
              <a:t>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n-US" sz="1200" dirty="0">
                <a:latin typeface="Arial" panose="020B0604020202020204" pitchFamily="34" charset="0"/>
                <a:cs typeface="Arial" panose="020B0604020202020204" pitchFamily="34" charset="0"/>
              </a:rPr>
              <a:t>de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tipo</a:t>
            </a:r>
            <a:r>
              <a:rPr lang="en-US" sz="1200" dirty="0">
                <a:latin typeface="Arial" panose="020B0604020202020204" pitchFamily="34" charset="0"/>
                <a:cs typeface="Arial" panose="020B0604020202020204" pitchFamily="34" charset="0"/>
              </a:rPr>
              <a:t> de modo. En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hiciesen</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gráficas</a:t>
            </a:r>
            <a:r>
              <a:rPr lang="en-US" sz="1200" dirty="0">
                <a:latin typeface="Arial" panose="020B0604020202020204" pitchFamily="34" charset="0"/>
                <a:cs typeface="Arial" panose="020B0604020202020204" pitchFamily="34" charset="0"/>
              </a:rPr>
              <a:t> K vs L, </a:t>
            </a:r>
            <a:r>
              <a:rPr lang="en-US" sz="1200" dirty="0" err="1">
                <a:latin typeface="Arial" panose="020B0604020202020204" pitchFamily="34" charset="0"/>
                <a:cs typeface="Arial" panose="020B0604020202020204" pitchFamily="34" charset="0"/>
              </a:rPr>
              <a:t>sí</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vería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K=1 se </a:t>
            </a:r>
            <a:r>
              <a:rPr lang="en-US" sz="1200" dirty="0" err="1">
                <a:latin typeface="Arial" panose="020B0604020202020204" pitchFamily="34" charset="0"/>
                <a:cs typeface="Arial" panose="020B0604020202020204" pitchFamily="34" charset="0"/>
              </a:rPr>
              <a:t>conseguiría</a:t>
            </a:r>
            <a:r>
              <a:rPr lang="en-US" sz="1200" dirty="0">
                <a:latin typeface="Arial" panose="020B0604020202020204" pitchFamily="34" charset="0"/>
                <a:cs typeface="Arial" panose="020B0604020202020204" pitchFamily="34" charset="0"/>
              </a:rPr>
              <a:t> solo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de L=</a:t>
            </a:r>
            <a:r>
              <a:rPr lang="es-ES" sz="1200" dirty="0">
                <a:latin typeface="Arial" panose="020B0604020202020204" pitchFamily="34" charset="0"/>
                <a:cs typeface="Arial" panose="020B0604020202020204" pitchFamily="34" charset="0"/>
              </a:rPr>
              <a:t> L</a:t>
            </a:r>
            <a:r>
              <a:rPr lang="es-ES" sz="1200" dirty="0">
                <a:latin typeface="Arial" panose="020B0604020202020204" pitchFamily="34" charset="0"/>
                <a:ea typeface="Cambria Math" panose="02040503050406030204" pitchFamily="18" charset="0"/>
                <a:cs typeface="Arial" panose="020B0604020202020204" pitchFamily="34" charset="0"/>
              </a:rPr>
              <a:t>π</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aparecen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diapositiva</a:t>
            </a:r>
            <a:r>
              <a:rPr lang="en-US" sz="1200" dirty="0">
                <a:latin typeface="Arial" panose="020B0604020202020204" pitchFamily="34" charset="0"/>
                <a:cs typeface="Arial" panose="020B0604020202020204" pitchFamily="34" charset="0"/>
              </a:rPr>
              <a:t> anterior (</a:t>
            </a:r>
            <a:r>
              <a:rPr lang="es-ES" sz="1200" dirty="0">
                <a:latin typeface="Arial" panose="020B0604020202020204" pitchFamily="34" charset="0"/>
                <a:cs typeface="Arial" panose="020B0604020202020204" pitchFamily="34" charset="0"/>
              </a:rPr>
              <a:t>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n-US" sz="1200" dirty="0">
                <a:latin typeface="Arial" panose="020B0604020202020204" pitchFamily="34" charset="0"/>
                <a:cs typeface="Arial" panose="020B0604020202020204" pitchFamily="34" charset="0"/>
              </a:rPr>
              <a:t>_TE=93,84</a:t>
            </a:r>
            <a:r>
              <a:rPr lang="el-GR" sz="1200" dirty="0">
                <a:latin typeface="Arial" panose="020B0604020202020204" pitchFamily="34" charset="0"/>
                <a:ea typeface="Cambria Math" panose="02040503050406030204" pitchFamily="18" charset="0"/>
                <a:cs typeface="Arial" panose="020B0604020202020204" pitchFamily="34" charset="0"/>
              </a:rPr>
              <a:t> 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n-US" sz="1200" dirty="0">
                <a:latin typeface="Arial" panose="020B0604020202020204" pitchFamily="34" charset="0"/>
                <a:cs typeface="Arial" panose="020B0604020202020204" pitchFamily="34" charset="0"/>
              </a:rPr>
              <a:t> y </a:t>
            </a:r>
            <a:r>
              <a:rPr lang="es-ES" sz="1200" dirty="0">
                <a:latin typeface="Arial" panose="020B0604020202020204" pitchFamily="34" charset="0"/>
                <a:cs typeface="Arial" panose="020B0604020202020204" pitchFamily="34" charset="0"/>
              </a:rPr>
              <a:t>L</a:t>
            </a:r>
            <a:r>
              <a:rPr lang="es-ES" sz="1200" dirty="0">
                <a:latin typeface="Arial" panose="020B0604020202020204" pitchFamily="34" charset="0"/>
                <a:ea typeface="Cambria Math" panose="02040503050406030204" pitchFamily="18" charset="0"/>
                <a:cs typeface="Arial" panose="020B0604020202020204" pitchFamily="34" charset="0"/>
              </a:rPr>
              <a:t>π</a:t>
            </a:r>
            <a:r>
              <a:rPr lang="en-US" sz="1200" dirty="0">
                <a:latin typeface="Arial" panose="020B0604020202020204" pitchFamily="34" charset="0"/>
                <a:cs typeface="Arial" panose="020B0604020202020204" pitchFamily="34" charset="0"/>
              </a:rPr>
              <a:t>_TM=52,26</a:t>
            </a:r>
            <a:r>
              <a:rPr lang="el-GR" sz="1200" dirty="0">
                <a:latin typeface="Arial" panose="020B0604020202020204" pitchFamily="34" charset="0"/>
                <a:ea typeface="Cambria Math" panose="02040503050406030204" pitchFamily="18" charset="0"/>
                <a:cs typeface="Arial" panose="020B0604020202020204" pitchFamily="34" charset="0"/>
              </a:rPr>
              <a:t> 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Como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L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un valor </a:t>
            </a:r>
            <a:r>
              <a:rPr lang="en-US" sz="1200" dirty="0" err="1">
                <a:latin typeface="Arial" panose="020B0604020202020204" pitchFamily="34" charset="0"/>
                <a:cs typeface="Arial" panose="020B0604020202020204" pitchFamily="34" charset="0"/>
              </a:rPr>
              <a:t>múltiplo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entero</a:t>
            </a:r>
            <a:r>
              <a:rPr lang="en-US" sz="1200" dirty="0">
                <a:latin typeface="Arial" panose="020B0604020202020204" pitchFamily="34" charset="0"/>
                <a:cs typeface="Arial" panose="020B0604020202020204" pitchFamily="34" charset="0"/>
              </a:rPr>
              <a:t> de </a:t>
            </a:r>
            <a:r>
              <a:rPr lang="es-ES" sz="1200" dirty="0">
                <a:latin typeface="Arial" panose="020B0604020202020204" pitchFamily="34" charset="0"/>
                <a:cs typeface="Arial" panose="020B0604020202020204" pitchFamily="34" charset="0"/>
              </a:rPr>
              <a:t>L</a:t>
            </a:r>
            <a:r>
              <a:rPr lang="es-ES" sz="1200" dirty="0">
                <a:latin typeface="Arial" panose="020B0604020202020204" pitchFamily="34" charset="0"/>
                <a:ea typeface="Cambria Math" panose="02040503050406030204" pitchFamily="18" charset="0"/>
                <a:cs typeface="Arial" panose="020B0604020202020204" pitchFamily="34" charset="0"/>
              </a:rPr>
              <a:t>π</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va</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cruzada</a:t>
            </a:r>
            <a:r>
              <a:rPr lang="en-US" sz="1200" dirty="0">
                <a:latin typeface="Arial" panose="020B0604020202020204" pitchFamily="34" charset="0"/>
                <a:cs typeface="Arial" panose="020B0604020202020204" pitchFamily="34" charset="0"/>
              </a:rPr>
              <a:t> (K=1), </a:t>
            </a:r>
            <a:r>
              <a:rPr lang="en-US" sz="1200" dirty="0" err="1">
                <a:latin typeface="Arial" panose="020B0604020202020204" pitchFamily="34" charset="0"/>
                <a:cs typeface="Arial" panose="020B0604020202020204" pitchFamily="34" charset="0"/>
              </a:rPr>
              <a:t>consiguiendo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así</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trasnferencia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energía</a:t>
            </a:r>
            <a:r>
              <a:rPr lang="en-US" sz="1200" dirty="0">
                <a:latin typeface="Arial" panose="020B0604020202020204" pitchFamily="34" charset="0"/>
                <a:cs typeface="Arial" panose="020B0604020202020204" pitchFamily="34" charset="0"/>
              </a:rPr>
              <a:t> completa entre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se </a:t>
            </a:r>
            <a:r>
              <a:rPr lang="en-US" sz="1200" dirty="0" err="1">
                <a:latin typeface="Arial" panose="020B0604020202020204" pitchFamily="34" charset="0"/>
                <a:cs typeface="Arial" panose="020B0604020202020204" pitchFamily="34" charset="0"/>
              </a:rPr>
              <a:t>quiere</a:t>
            </a:r>
            <a:r>
              <a:rPr lang="en-US" sz="1200" dirty="0">
                <a:latin typeface="Arial" panose="020B0604020202020204" pitchFamily="34" charset="0"/>
                <a:cs typeface="Arial" panose="020B0604020202020204" pitchFamily="34" charset="0"/>
              </a:rPr>
              <a:t> un divisor 50/50, </a:t>
            </a:r>
            <a:r>
              <a:rPr lang="en-US" sz="1200" dirty="0" err="1">
                <a:latin typeface="Arial" panose="020B0604020202020204" pitchFamily="34" charset="0"/>
                <a:cs typeface="Arial" panose="020B0604020202020204" pitchFamily="34" charset="0"/>
              </a:rPr>
              <a:t>significa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coeficiente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acoplo</a:t>
            </a:r>
            <a:r>
              <a:rPr lang="en-US" sz="1200" dirty="0">
                <a:latin typeface="Arial" panose="020B0604020202020204" pitchFamily="34" charset="0"/>
                <a:cs typeface="Arial" panose="020B0604020202020204" pitchFamily="34" charset="0"/>
              </a:rPr>
              <a:t> K vale 0.5, de forma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mitad</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salga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Consultando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sucede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L/</a:t>
            </a:r>
            <a:r>
              <a:rPr lang="es-ES" sz="1200" dirty="0">
                <a:latin typeface="Arial" panose="020B0604020202020204" pitchFamily="34" charset="0"/>
                <a:cs typeface="Arial" panose="020B0604020202020204" pitchFamily="34" charset="0"/>
              </a:rPr>
              <a:t> L</a:t>
            </a:r>
            <a:r>
              <a:rPr lang="es-ES" sz="1200" dirty="0">
                <a:latin typeface="Arial" panose="020B0604020202020204" pitchFamily="34" charset="0"/>
                <a:ea typeface="Cambria Math" panose="02040503050406030204" pitchFamily="18" charset="0"/>
                <a:cs typeface="Arial" panose="020B0604020202020204" pitchFamily="34" charset="0"/>
              </a:rPr>
              <a:t>π</a:t>
            </a:r>
            <a:r>
              <a:rPr lang="en-US" sz="1200" dirty="0">
                <a:latin typeface="Arial" panose="020B0604020202020204" pitchFamily="34" charset="0"/>
                <a:cs typeface="Arial" panose="020B0604020202020204" pitchFamily="34" charset="0"/>
              </a:rPr>
              <a:t> vale 0,5; es </a:t>
            </a:r>
            <a:r>
              <a:rPr lang="en-US" sz="1200" dirty="0" err="1">
                <a:latin typeface="Arial" panose="020B0604020202020204" pitchFamily="34" charset="0"/>
                <a:cs typeface="Arial" panose="020B0604020202020204" pitchFamily="34" charset="0"/>
              </a:rPr>
              <a:t>decir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L=</a:t>
            </a:r>
            <a:r>
              <a:rPr lang="es-ES" sz="1200" dirty="0">
                <a:latin typeface="Arial" panose="020B0604020202020204" pitchFamily="34" charset="0"/>
                <a:cs typeface="Arial" panose="020B0604020202020204" pitchFamily="34" charset="0"/>
              </a:rPr>
              <a:t> 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n-US" sz="1200" dirty="0">
                <a:latin typeface="Arial" panose="020B0604020202020204" pitchFamily="34" charset="0"/>
                <a:cs typeface="Arial" panose="020B0604020202020204" pitchFamily="34" charset="0"/>
              </a:rPr>
              <a:t>2,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es la </a:t>
            </a:r>
            <a:r>
              <a:rPr lang="en-US" sz="1200" dirty="0" err="1">
                <a:latin typeface="Arial" panose="020B0604020202020204" pitchFamily="34" charset="0"/>
                <a:cs typeface="Arial" panose="020B0604020202020204" pitchFamily="34" charset="0"/>
              </a:rPr>
              <a:t>mitad</a:t>
            </a:r>
            <a:r>
              <a:rPr lang="en-US" sz="1200" dirty="0">
                <a:latin typeface="Arial" panose="020B0604020202020204" pitchFamily="34" charset="0"/>
                <a:cs typeface="Arial" panose="020B0604020202020204" pitchFamily="34" charset="0"/>
              </a:rPr>
              <a:t> de la de entrada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dos </a:t>
            </a:r>
            <a:r>
              <a:rPr lang="en-US" sz="1200" dirty="0" err="1">
                <a:latin typeface="Arial" panose="020B0604020202020204" pitchFamily="34" charset="0"/>
                <a:cs typeface="Arial" panose="020B0604020202020204" pitchFamily="34" charset="0"/>
              </a:rPr>
              <a:t>salidas</a:t>
            </a:r>
            <a:r>
              <a:rPr lang="en-US" sz="1200" dirty="0">
                <a:latin typeface="Arial" panose="020B0604020202020204" pitchFamily="34" charset="0"/>
                <a:cs typeface="Arial" panose="020B0604020202020204" pitchFamily="34" charset="0"/>
              </a:rPr>
              <a:t>.</a:t>
            </a: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077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1135301" y="269637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L/</a:t>
            </a:r>
            <a:r>
              <a:rPr lang="en-US" err="1"/>
              <a:t>Lpi</a:t>
            </a:r>
            <a:r>
              <a:rPr lang="en-US"/>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26390" y="2322091"/>
            <a:ext cx="2574660" cy="748570"/>
          </a:xfrm>
          <a:prstGeom prst="rect">
            <a:avLst/>
          </a:prstGeom>
        </p:spPr>
      </p:pic>
      <p:pic>
        <p:nvPicPr>
          <p:cNvPr id="10" name="Imagen 9">
            <a:extLst>
              <a:ext uri="{FF2B5EF4-FFF2-40B4-BE49-F238E27FC236}">
                <a16:creationId xmlns:a16="http://schemas.microsoft.com/office/drawing/2014/main" id="{3D7F2C82-5B7E-51BD-D123-FDD31A3D2263}"/>
              </a:ext>
            </a:extLst>
          </p:cNvPr>
          <p:cNvPicPr>
            <a:picLocks noChangeAspect="1"/>
          </p:cNvPicPr>
          <p:nvPr/>
        </p:nvPicPr>
        <p:blipFill>
          <a:blip r:embed="rId5"/>
          <a:stretch>
            <a:fillRect/>
          </a:stretch>
        </p:blipFill>
        <p:spPr>
          <a:xfrm>
            <a:off x="1468573" y="1455705"/>
            <a:ext cx="3768453" cy="3024068"/>
          </a:xfrm>
          <a:prstGeom prst="rect">
            <a:avLst/>
          </a:prstGeom>
        </p:spPr>
      </p:pic>
      <p:pic>
        <p:nvPicPr>
          <p:cNvPr id="12" name="Imagen 11">
            <a:extLst>
              <a:ext uri="{FF2B5EF4-FFF2-40B4-BE49-F238E27FC236}">
                <a16:creationId xmlns:a16="http://schemas.microsoft.com/office/drawing/2014/main" id="{0C642E49-B1D4-B6E6-3B08-623C0E1C794C}"/>
              </a:ext>
            </a:extLst>
          </p:cNvPr>
          <p:cNvPicPr>
            <a:picLocks noChangeAspect="1"/>
          </p:cNvPicPr>
          <p:nvPr/>
        </p:nvPicPr>
        <p:blipFill>
          <a:blip r:embed="rId6"/>
          <a:stretch>
            <a:fillRect/>
          </a:stretch>
        </p:blipFill>
        <p:spPr>
          <a:xfrm>
            <a:off x="5781004" y="1445052"/>
            <a:ext cx="3768453" cy="3024068"/>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2362A-56FF-A899-9DB6-C6175D902B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6E9B37B-D542-72F1-8170-0F0EA2710009}"/>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BC13C480-B6E5-E6F2-D5B9-5E55792F84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3CB6B9-5869-D41B-78C0-C4C7C524097E}"/>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F980145F-ED9D-BC56-44EF-AC3CED6FF3FA}"/>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08B743AC-9479-1A42-F114-87EAD013D6CE}"/>
              </a:ext>
            </a:extLst>
          </p:cNvPr>
          <p:cNvSpPr/>
          <p:nvPr/>
        </p:nvSpPr>
        <p:spPr>
          <a:xfrm>
            <a:off x="609441" y="1418373"/>
            <a:ext cx="11199971" cy="478578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E65B5DD8-7082-3FF3-C9F9-FFE2E130E7BD}"/>
              </a:ext>
            </a:extLst>
          </p:cNvPr>
          <p:cNvPicPr>
            <a:picLocks noChangeAspect="1"/>
          </p:cNvPicPr>
          <p:nvPr/>
        </p:nvPicPr>
        <p:blipFill>
          <a:blip r:embed="rId4"/>
          <a:stretch>
            <a:fillRect/>
          </a:stretch>
        </p:blipFill>
        <p:spPr>
          <a:xfrm>
            <a:off x="773138" y="1769806"/>
            <a:ext cx="4362613" cy="1109523"/>
          </a:xfrm>
          <a:prstGeom prst="rect">
            <a:avLst/>
          </a:prstGeom>
        </p:spPr>
      </p:pic>
      <p:pic>
        <p:nvPicPr>
          <p:cNvPr id="5" name="Imagen 4">
            <a:extLst>
              <a:ext uri="{FF2B5EF4-FFF2-40B4-BE49-F238E27FC236}">
                <a16:creationId xmlns:a16="http://schemas.microsoft.com/office/drawing/2014/main" id="{938C6AA3-DF4A-6C41-9D9D-07A3852CEFD9}"/>
              </a:ext>
            </a:extLst>
          </p:cNvPr>
          <p:cNvPicPr>
            <a:picLocks noChangeAspect="1"/>
          </p:cNvPicPr>
          <p:nvPr/>
        </p:nvPicPr>
        <p:blipFill>
          <a:blip r:embed="rId5"/>
          <a:stretch>
            <a:fillRect/>
          </a:stretch>
        </p:blipFill>
        <p:spPr>
          <a:xfrm>
            <a:off x="863317" y="2951895"/>
            <a:ext cx="4313361" cy="1763516"/>
          </a:xfrm>
          <a:prstGeom prst="rect">
            <a:avLst/>
          </a:prstGeom>
        </p:spPr>
      </p:pic>
      <p:pic>
        <p:nvPicPr>
          <p:cNvPr id="9" name="Imagen 8">
            <a:extLst>
              <a:ext uri="{FF2B5EF4-FFF2-40B4-BE49-F238E27FC236}">
                <a16:creationId xmlns:a16="http://schemas.microsoft.com/office/drawing/2014/main" id="{B71C45DC-55BA-4AF1-8321-520C61F3AD12}"/>
              </a:ext>
            </a:extLst>
          </p:cNvPr>
          <p:cNvPicPr>
            <a:picLocks noChangeAspect="1"/>
          </p:cNvPicPr>
          <p:nvPr/>
        </p:nvPicPr>
        <p:blipFill>
          <a:blip r:embed="rId6"/>
          <a:stretch>
            <a:fillRect/>
          </a:stretch>
        </p:blipFill>
        <p:spPr>
          <a:xfrm>
            <a:off x="764473" y="4717020"/>
            <a:ext cx="4401527" cy="1393563"/>
          </a:xfrm>
          <a:prstGeom prst="rect">
            <a:avLst/>
          </a:prstGeom>
        </p:spPr>
      </p:pic>
      <p:pic>
        <p:nvPicPr>
          <p:cNvPr id="18" name="Imagen 17">
            <a:extLst>
              <a:ext uri="{FF2B5EF4-FFF2-40B4-BE49-F238E27FC236}">
                <a16:creationId xmlns:a16="http://schemas.microsoft.com/office/drawing/2014/main" id="{E815177C-A13C-DB2B-1FB4-DCA4A99DE9FF}"/>
              </a:ext>
            </a:extLst>
          </p:cNvPr>
          <p:cNvPicPr>
            <a:picLocks noChangeAspect="1"/>
          </p:cNvPicPr>
          <p:nvPr/>
        </p:nvPicPr>
        <p:blipFill>
          <a:blip r:embed="rId7"/>
          <a:stretch>
            <a:fillRect/>
          </a:stretch>
        </p:blipFill>
        <p:spPr>
          <a:xfrm>
            <a:off x="5771854" y="1896360"/>
            <a:ext cx="5505450" cy="933450"/>
          </a:xfrm>
          <a:prstGeom prst="rect">
            <a:avLst/>
          </a:prstGeom>
        </p:spPr>
      </p:pic>
      <p:pic>
        <p:nvPicPr>
          <p:cNvPr id="13" name="Imagen 12">
            <a:extLst>
              <a:ext uri="{FF2B5EF4-FFF2-40B4-BE49-F238E27FC236}">
                <a16:creationId xmlns:a16="http://schemas.microsoft.com/office/drawing/2014/main" id="{6E087D4B-E1F6-DD6B-3262-490443DEE6AC}"/>
              </a:ext>
            </a:extLst>
          </p:cNvPr>
          <p:cNvPicPr>
            <a:picLocks noChangeAspect="1"/>
          </p:cNvPicPr>
          <p:nvPr/>
        </p:nvPicPr>
        <p:blipFill>
          <a:blip r:embed="rId8"/>
          <a:stretch>
            <a:fillRect/>
          </a:stretch>
        </p:blipFill>
        <p:spPr>
          <a:xfrm>
            <a:off x="5771854" y="3304144"/>
            <a:ext cx="5505450" cy="1162050"/>
          </a:xfrm>
          <a:prstGeom prst="rect">
            <a:avLst/>
          </a:prstGeom>
        </p:spPr>
      </p:pic>
      <p:pic>
        <p:nvPicPr>
          <p:cNvPr id="15" name="Imagen 14">
            <a:extLst>
              <a:ext uri="{FF2B5EF4-FFF2-40B4-BE49-F238E27FC236}">
                <a16:creationId xmlns:a16="http://schemas.microsoft.com/office/drawing/2014/main" id="{E8BA6EDB-C64C-D53A-2862-394946A5835A}"/>
              </a:ext>
            </a:extLst>
          </p:cNvPr>
          <p:cNvPicPr>
            <a:picLocks noChangeAspect="1"/>
          </p:cNvPicPr>
          <p:nvPr/>
        </p:nvPicPr>
        <p:blipFill>
          <a:blip r:embed="rId9"/>
          <a:stretch>
            <a:fillRect/>
          </a:stretch>
        </p:blipFill>
        <p:spPr>
          <a:xfrm>
            <a:off x="5771854" y="4901362"/>
            <a:ext cx="5505450" cy="1019175"/>
          </a:xfrm>
          <a:prstGeom prst="rect">
            <a:avLst/>
          </a:prstGeom>
        </p:spPr>
      </p:pic>
    </p:spTree>
    <p:extLst>
      <p:ext uri="{BB962C8B-B14F-4D97-AF65-F5344CB8AC3E}">
        <p14:creationId xmlns:p14="http://schemas.microsoft.com/office/powerpoint/2010/main" val="3410990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Lπ aumenta al aumentar el gap porque cuando las guías están más separadas, el acoplamiento entre los campos es más débil y se necesita una longitud mayor para transferir completamente la potencia de una guía a la otra. Este comportamiento se aprecia claramente tanto en la gráfica como en las figuras de la diapositiva anterior, donde para gaps pequeños (0.2 µm) la transferencia ocurre en distancias muy cortas, mientras que para gaps grandes (1.2 µm) se necesitan más de 500 µm. Para aplicaciones que requieran dispositivos compactos, es preferible trabajar con gaps reducidos, aunque esto implica mayor exigencia en el proceso de fabricación.</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3810000" cy="1200329"/>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output text here</a:t>
            </a:r>
          </a:p>
        </p:txBody>
      </p:sp>
      <p:pic>
        <p:nvPicPr>
          <p:cNvPr id="20" name="Imagen 19">
            <a:extLst>
              <a:ext uri="{FF2B5EF4-FFF2-40B4-BE49-F238E27FC236}">
                <a16:creationId xmlns:a16="http://schemas.microsoft.com/office/drawing/2014/main" id="{A3E9F10C-10A9-F3CF-8FCD-575B4174B7FB}"/>
              </a:ext>
            </a:extLst>
          </p:cNvPr>
          <p:cNvPicPr>
            <a:picLocks noChangeAspect="1"/>
          </p:cNvPicPr>
          <p:nvPr/>
        </p:nvPicPr>
        <p:blipFill>
          <a:blip r:embed="rId4"/>
          <a:stretch>
            <a:fillRect/>
          </a:stretch>
        </p:blipFill>
        <p:spPr>
          <a:xfrm>
            <a:off x="1385004" y="1485389"/>
            <a:ext cx="5611992" cy="3171996"/>
          </a:xfrm>
          <a:prstGeom prst="rect">
            <a:avLst/>
          </a:prstGeom>
        </p:spPr>
      </p:pic>
      <p:pic>
        <p:nvPicPr>
          <p:cNvPr id="22" name="Imagen 21">
            <a:extLst>
              <a:ext uri="{FF2B5EF4-FFF2-40B4-BE49-F238E27FC236}">
                <a16:creationId xmlns:a16="http://schemas.microsoft.com/office/drawing/2014/main" id="{306D8490-60B7-1D03-9B11-ADB5FF3D8943}"/>
              </a:ext>
            </a:extLst>
          </p:cNvPr>
          <p:cNvPicPr>
            <a:picLocks noChangeAspect="1"/>
          </p:cNvPicPr>
          <p:nvPr/>
        </p:nvPicPr>
        <p:blipFill>
          <a:blip r:embed="rId5"/>
          <a:stretch>
            <a:fillRect/>
          </a:stretch>
        </p:blipFill>
        <p:spPr>
          <a:xfrm>
            <a:off x="7772559" y="2080896"/>
            <a:ext cx="2286319" cy="2143424"/>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br>
              <a:rPr lang="en-US" sz="2500" spc="-5">
                <a:latin typeface="+mj-lt"/>
                <a:cs typeface="Lucida Sans"/>
              </a:rPr>
            </a:br>
            <a:r>
              <a:rPr lang="en-US" b="0"/>
              <a:t>Wavelength 1.55 µm, width 1.0 µm, gap to be found for uncoupled </a:t>
            </a:r>
            <a:r>
              <a:rPr lang="en-US" b="0" err="1"/>
              <a:t>wvgs</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El acoplamiento K disminuye rápidamente al aumentar el gap, porque se reduce el solapamiento entre los campos de ambas guías. Si queremos que no haya acoplo (usando el límite de K &lt; 0.01), en las guías Deep nos basta con un gap de unos 3.7</a:t>
            </a:r>
            <a:r>
              <a:rPr lang="el-GR" sz="1200" dirty="0">
                <a:latin typeface="Arial" panose="020B0604020202020204" pitchFamily="34" charset="0"/>
                <a:ea typeface="Cambria Math" panose="02040503050406030204" pitchFamily="18" charset="0"/>
                <a:cs typeface="Arial" panose="020B0604020202020204" pitchFamily="34" charset="0"/>
              </a:rPr>
              <a:t> 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s-ES" sz="1200" dirty="0">
                <a:latin typeface="Arial" panose="020B0604020202020204" pitchFamily="34" charset="0"/>
                <a:cs typeface="Arial" panose="020B0604020202020204" pitchFamily="34" charset="0"/>
              </a:rPr>
              <a:t>, ya que estas guías mantienen la luz bien confinada por dentro. Sin embargo, en las guías Shallow la luz se escapa más, ya que el campo está menos confinado y ocupa mayor parte del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por lo que es necesario separarlas hasta unos 5.0 </a:t>
            </a:r>
            <a:r>
              <a:rPr lang="el-GR" sz="1200" dirty="0">
                <a:latin typeface="Arial" panose="020B0604020202020204" pitchFamily="34" charset="0"/>
                <a:ea typeface="Cambria Math" panose="02040503050406030204" pitchFamily="18" charset="0"/>
                <a:cs typeface="Arial" panose="020B0604020202020204" pitchFamily="34" charset="0"/>
              </a:rPr>
              <a:t>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s-ES" sz="1200" dirty="0">
                <a:latin typeface="Arial" panose="020B0604020202020204" pitchFamily="34" charset="0"/>
                <a:cs typeface="Arial" panose="020B0604020202020204" pitchFamily="34" charset="0"/>
              </a:rPr>
              <a:t> aproximadamente, para que no interfieran entre ellas y se consideren desacopladas.</a:t>
            </a: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r>
                      <a:rPr lang="es-ES" b="0" i="1" smtClean="0">
                        <a:latin typeface="Cambria Math" panose="02040503050406030204" pitchFamily="18" charset="0"/>
                      </a:rPr>
                      <m:t>𝐾</m:t>
                    </m:r>
                  </m:oMath>
                </a14:m>
                <a:r>
                  <a:rPr lang="en-US"/>
                  <a:t> vs gap for 10 mm </a:t>
                </a:r>
                <a:r>
                  <a:rPr lang="en-US" err="1"/>
                  <a:t>wvgs</a:t>
                </a:r>
                <a:r>
                  <a:rPr lang="en-US"/>
                  <a:t> to be uncoupled</a:t>
                </a:r>
              </a:p>
              <a:p>
                <a:pPr algn="ctr"/>
                <a:endParaRPr lang="en-US"/>
              </a:p>
            </p:txBody>
          </p:sp>
        </mc:Choice>
        <mc:Fallback>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4"/>
                <a:stretch>
                  <a:fillRect t="-2479"/>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a:t>shallow</a:t>
                </a:r>
                <a:r>
                  <a:rPr lang="en-US"/>
                  <a:t> waveguide</a:t>
                </a:r>
              </a:p>
              <a:p>
                <a:pPr algn="ctr"/>
                <a:r>
                  <a:rPr lang="en-US" err="1"/>
                  <a:t>slab_thickness</a:t>
                </a:r>
                <a:r>
                  <a:rPr lang="en-US"/>
                  <a:t> = 150 nm</a:t>
                </a:r>
              </a:p>
              <a:p>
                <a:pPr algn="ctr"/>
                <a:endParaRPr lang="en-US"/>
              </a:p>
              <a:p>
                <a:pPr algn="ctr"/>
                <a:r>
                  <a:rPr lang="en-US"/>
                  <a:t>Paste </a:t>
                </a:r>
                <a14:m>
                  <m:oMath xmlns:m="http://schemas.openxmlformats.org/officeDocument/2006/math">
                    <m:r>
                      <a:rPr lang="es-ES" i="1">
                        <a:latin typeface="Cambria Math" panose="02040503050406030204" pitchFamily="18" charset="0"/>
                      </a:rPr>
                      <m:t>𝐾</m:t>
                    </m:r>
                  </m:oMath>
                </a14:m>
                <a:r>
                  <a:rPr lang="en-US"/>
                  <a:t> vs gap for 10 mm </a:t>
                </a:r>
                <a:r>
                  <a:rPr lang="en-US" err="1"/>
                  <a:t>wvgs</a:t>
                </a:r>
                <a:r>
                  <a:rPr lang="en-US"/>
                  <a:t> to be uncoupled</a:t>
                </a:r>
              </a:p>
            </p:txBody>
          </p:sp>
        </mc:Choice>
        <mc:Fallback>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5"/>
                <a:stretch>
                  <a:fillRect t="-2479" b="-5785"/>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5141319F-0BA3-162A-778A-267EF0D60DA8}"/>
              </a:ext>
            </a:extLst>
          </p:cNvPr>
          <p:cNvPicPr>
            <a:picLocks noChangeAspect="1"/>
          </p:cNvPicPr>
          <p:nvPr/>
        </p:nvPicPr>
        <p:blipFill>
          <a:blip r:embed="rId6"/>
          <a:stretch>
            <a:fillRect/>
          </a:stretch>
        </p:blipFill>
        <p:spPr>
          <a:xfrm>
            <a:off x="762000" y="1280305"/>
            <a:ext cx="5136917" cy="3183818"/>
          </a:xfrm>
          <a:prstGeom prst="rect">
            <a:avLst/>
          </a:prstGeom>
        </p:spPr>
      </p:pic>
      <p:pic>
        <p:nvPicPr>
          <p:cNvPr id="11" name="Imagen 10">
            <a:extLst>
              <a:ext uri="{FF2B5EF4-FFF2-40B4-BE49-F238E27FC236}">
                <a16:creationId xmlns:a16="http://schemas.microsoft.com/office/drawing/2014/main" id="{DF73D42D-4713-EA34-BB83-3B86E5AF109E}"/>
              </a:ext>
            </a:extLst>
          </p:cNvPr>
          <p:cNvPicPr>
            <a:picLocks noChangeAspect="1"/>
          </p:cNvPicPr>
          <p:nvPr/>
        </p:nvPicPr>
        <p:blipFill>
          <a:blip r:embed="rId7"/>
          <a:stretch>
            <a:fillRect/>
          </a:stretch>
        </p:blipFill>
        <p:spPr>
          <a:xfrm>
            <a:off x="6346114" y="1216172"/>
            <a:ext cx="5334096" cy="3306028"/>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#2: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u="sng"/>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737E6259-FFDB-15B0-2EEC-D9318FF55006}"/>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977B48DB-5AB7-05E8-DA15-E921CED3B786}"/>
              </a:ext>
            </a:extLst>
          </p:cNvPr>
          <p:cNvSpPr>
            <a:spLocks noGrp="1"/>
          </p:cNvSpPr>
          <p:nvPr>
            <p:ph type="sldNum" sz="quarter" idx="7"/>
          </p:nvPr>
        </p:nvSpPr>
        <p:spPr/>
        <p:txBody>
          <a:bodyPr/>
          <a:lstStyle/>
          <a:p>
            <a:fld id="{B6F15528-21DE-4FAA-801E-634DDDAF4B2B}" type="slidenum">
              <a:rPr lang="es-ES" smtClean="0"/>
              <a:t>12</a:t>
            </a:fld>
            <a:endParaRPr lang="es-ES"/>
          </a:p>
        </p:txBody>
      </p:sp>
      <p:pic>
        <p:nvPicPr>
          <p:cNvPr id="7" name="Imagen 6">
            <a:extLst>
              <a:ext uri="{FF2B5EF4-FFF2-40B4-BE49-F238E27FC236}">
                <a16:creationId xmlns:a16="http://schemas.microsoft.com/office/drawing/2014/main" id="{97475ABB-9535-1A52-0CAD-7618217E7EF8}"/>
              </a:ext>
            </a:extLst>
          </p:cNvPr>
          <p:cNvPicPr>
            <a:picLocks noChangeAspect="1"/>
          </p:cNvPicPr>
          <p:nvPr/>
        </p:nvPicPr>
        <p:blipFill>
          <a:blip r:embed="rId3"/>
          <a:stretch>
            <a:fillRect/>
          </a:stretch>
        </p:blipFill>
        <p:spPr>
          <a:xfrm>
            <a:off x="993673" y="3379404"/>
            <a:ext cx="4069940" cy="1679959"/>
          </a:xfrm>
          <a:prstGeom prst="rect">
            <a:avLst/>
          </a:prstGeom>
        </p:spPr>
      </p:pic>
      <p:sp>
        <p:nvSpPr>
          <p:cNvPr id="8" name="object 16">
            <a:extLst>
              <a:ext uri="{FF2B5EF4-FFF2-40B4-BE49-F238E27FC236}">
                <a16:creationId xmlns:a16="http://schemas.microsoft.com/office/drawing/2014/main" id="{2EAD35BB-DFCA-F699-64F2-814596031FC5}"/>
              </a:ext>
            </a:extLst>
          </p:cNvPr>
          <p:cNvSpPr txBox="1">
            <a:spLocks/>
          </p:cNvSpPr>
          <p:nvPr/>
        </p:nvSpPr>
        <p:spPr>
          <a:xfrm>
            <a:off x="685800" y="408883"/>
            <a:ext cx="10994410" cy="3975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#5 – Multimode Interference (MMI) Coupler cross-section</a:t>
            </a:r>
            <a:endParaRPr lang="en-US" sz="2500" b="0" kern="0">
              <a:latin typeface="+mj-lt"/>
              <a:cs typeface="Lucida Sans"/>
            </a:endParaRPr>
          </a:p>
        </p:txBody>
      </p:sp>
      <p:pic>
        <p:nvPicPr>
          <p:cNvPr id="10" name="Imagen 9">
            <a:extLst>
              <a:ext uri="{FF2B5EF4-FFF2-40B4-BE49-F238E27FC236}">
                <a16:creationId xmlns:a16="http://schemas.microsoft.com/office/drawing/2014/main" id="{FD87DCE1-4DFA-1C82-92D3-F95344331747}"/>
              </a:ext>
            </a:extLst>
          </p:cNvPr>
          <p:cNvPicPr>
            <a:picLocks noChangeAspect="1"/>
          </p:cNvPicPr>
          <p:nvPr/>
        </p:nvPicPr>
        <p:blipFill>
          <a:blip r:embed="rId4"/>
          <a:stretch>
            <a:fillRect/>
          </a:stretch>
        </p:blipFill>
        <p:spPr>
          <a:xfrm>
            <a:off x="5161321" y="3544528"/>
            <a:ext cx="4443566" cy="1349710"/>
          </a:xfrm>
          <a:prstGeom prst="rect">
            <a:avLst/>
          </a:prstGeom>
        </p:spPr>
      </p:pic>
      <p:pic>
        <p:nvPicPr>
          <p:cNvPr id="12" name="Imagen 11">
            <a:extLst>
              <a:ext uri="{FF2B5EF4-FFF2-40B4-BE49-F238E27FC236}">
                <a16:creationId xmlns:a16="http://schemas.microsoft.com/office/drawing/2014/main" id="{20B02199-14CA-8DB4-35FC-B69E1EAB91E2}"/>
              </a:ext>
            </a:extLst>
          </p:cNvPr>
          <p:cNvPicPr>
            <a:picLocks noChangeAspect="1"/>
          </p:cNvPicPr>
          <p:nvPr/>
        </p:nvPicPr>
        <p:blipFill>
          <a:blip r:embed="rId5"/>
          <a:stretch>
            <a:fillRect/>
          </a:stretch>
        </p:blipFill>
        <p:spPr>
          <a:xfrm>
            <a:off x="609600" y="1080019"/>
            <a:ext cx="3126504" cy="2231578"/>
          </a:xfrm>
          <a:prstGeom prst="rect">
            <a:avLst/>
          </a:prstGeom>
        </p:spPr>
      </p:pic>
      <p:pic>
        <p:nvPicPr>
          <p:cNvPr id="14" name="Imagen 13">
            <a:extLst>
              <a:ext uri="{FF2B5EF4-FFF2-40B4-BE49-F238E27FC236}">
                <a16:creationId xmlns:a16="http://schemas.microsoft.com/office/drawing/2014/main" id="{CFEA4911-DB69-0312-BC21-28F5F35B2E17}"/>
              </a:ext>
            </a:extLst>
          </p:cNvPr>
          <p:cNvPicPr>
            <a:picLocks noChangeAspect="1"/>
          </p:cNvPicPr>
          <p:nvPr/>
        </p:nvPicPr>
        <p:blipFill>
          <a:blip r:embed="rId6"/>
          <a:stretch>
            <a:fillRect/>
          </a:stretch>
        </p:blipFill>
        <p:spPr>
          <a:xfrm>
            <a:off x="4643923" y="1105248"/>
            <a:ext cx="3078162" cy="2153606"/>
          </a:xfrm>
          <a:prstGeom prst="rect">
            <a:avLst/>
          </a:prstGeom>
        </p:spPr>
      </p:pic>
      <p:pic>
        <p:nvPicPr>
          <p:cNvPr id="16" name="Imagen 15">
            <a:extLst>
              <a:ext uri="{FF2B5EF4-FFF2-40B4-BE49-F238E27FC236}">
                <a16:creationId xmlns:a16="http://schemas.microsoft.com/office/drawing/2014/main" id="{22E7143A-C2E4-C9D5-7ADF-25D48DCC5F4F}"/>
              </a:ext>
            </a:extLst>
          </p:cNvPr>
          <p:cNvPicPr>
            <a:picLocks noChangeAspect="1"/>
          </p:cNvPicPr>
          <p:nvPr/>
        </p:nvPicPr>
        <p:blipFill>
          <a:blip r:embed="rId7"/>
          <a:stretch>
            <a:fillRect/>
          </a:stretch>
        </p:blipFill>
        <p:spPr>
          <a:xfrm>
            <a:off x="8530818" y="1076106"/>
            <a:ext cx="3078163" cy="2153607"/>
          </a:xfrm>
          <a:prstGeom prst="rect">
            <a:avLst/>
          </a:prstGeom>
        </p:spPr>
      </p:pic>
      <p:sp>
        <p:nvSpPr>
          <p:cNvPr id="2" name="CuadroTexto 1">
            <a:extLst>
              <a:ext uri="{FF2B5EF4-FFF2-40B4-BE49-F238E27FC236}">
                <a16:creationId xmlns:a16="http://schemas.microsoft.com/office/drawing/2014/main" id="{F11D711E-7F29-E5C5-A9A2-A983564AE933}"/>
              </a:ext>
            </a:extLst>
          </p:cNvPr>
          <p:cNvSpPr txBox="1"/>
          <p:nvPr/>
        </p:nvSpPr>
        <p:spPr>
          <a:xfrm>
            <a:off x="583018" y="5231665"/>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Según los resultados de la simulación, se ha obtenido una 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s-ES" sz="1200" dirty="0">
                <a:latin typeface="Arial" panose="020B0604020202020204" pitchFamily="34" charset="0"/>
                <a:cs typeface="Arial" panose="020B0604020202020204" pitchFamily="34" charset="0"/>
              </a:rPr>
              <a:t>de 219.41</a:t>
            </a:r>
            <a:r>
              <a:rPr lang="el-GR" sz="1200" dirty="0">
                <a:latin typeface="Arial" panose="020B0604020202020204" pitchFamily="34" charset="0"/>
                <a:ea typeface="Cambria Math" panose="02040503050406030204" pitchFamily="18" charset="0"/>
                <a:cs typeface="Arial" panose="020B0604020202020204" pitchFamily="34" charset="0"/>
              </a:rPr>
              <a:t> 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s-ES" sz="1200" dirty="0">
                <a:latin typeface="Arial" panose="020B0604020202020204" pitchFamily="34" charset="0"/>
                <a:cs typeface="Arial" panose="020B0604020202020204" pitchFamily="34" charset="0"/>
              </a:rPr>
              <a:t> y se han identificado 12 modos con polarización TE y 8 modos TM basándonos en la salida del comando </a:t>
            </a:r>
            <a:r>
              <a:rPr lang="es-ES" sz="1200" dirty="0" err="1">
                <a:latin typeface="Arial" panose="020B0604020202020204" pitchFamily="34" charset="0"/>
                <a:cs typeface="Arial" panose="020B0604020202020204" pitchFamily="34" charset="0"/>
              </a:rPr>
              <a:t>fraction_TE</a:t>
            </a:r>
            <a:r>
              <a:rPr lang="es-ES" sz="1200" dirty="0">
                <a:latin typeface="Arial" panose="020B0604020202020204" pitchFamily="34" charset="0"/>
                <a:cs typeface="Arial" panose="020B0604020202020204" pitchFamily="34" charset="0"/>
              </a:rPr>
              <a:t>. </a:t>
            </a:r>
          </a:p>
          <a:p>
            <a:pPr algn="just"/>
            <a:r>
              <a:rPr lang="es-ES" sz="1200" dirty="0">
                <a:latin typeface="Arial" panose="020B0604020202020204" pitchFamily="34" charset="0"/>
                <a:cs typeface="Arial" panose="020B0604020202020204" pitchFamily="34" charset="0"/>
              </a:rPr>
              <a:t>En las gráficas superiores se muestran los perfiles de campo para los modos TE0, TE1 y TE7, donde observa que la complejidad del patrón aumenta con el orden del modo. Mientras que el modo fundamental es un máximo central simple, en el modo TE7 se observa una mayor oscilación del campo con múltiples máximos y cambios de fase a lo largo de la sección del MMI. </a:t>
            </a:r>
            <a:endParaRPr lang="en-US" sz="1200"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78D1646B-43D9-5FB5-AD1F-D4C17E562481}"/>
              </a:ext>
            </a:extLst>
          </p:cNvPr>
          <p:cNvPicPr>
            <a:picLocks noChangeAspect="1"/>
          </p:cNvPicPr>
          <p:nvPr/>
        </p:nvPicPr>
        <p:blipFill>
          <a:blip r:embed="rId8"/>
          <a:stretch>
            <a:fillRect/>
          </a:stretch>
        </p:blipFill>
        <p:spPr>
          <a:xfrm>
            <a:off x="9800583" y="3787808"/>
            <a:ext cx="1762432" cy="889228"/>
          </a:xfrm>
          <a:prstGeom prst="rect">
            <a:avLst/>
          </a:prstGeom>
        </p:spPr>
      </p:pic>
    </p:spTree>
    <p:extLst>
      <p:ext uri="{BB962C8B-B14F-4D97-AF65-F5344CB8AC3E}">
        <p14:creationId xmlns:p14="http://schemas.microsoft.com/office/powerpoint/2010/main" val="2354788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la imagen de propagación EME se observa cómo interactúan los modos en el cuerpo del MMI hasta dividirse hacia las dos salidas. Según los datos del simulador, entran 0.9604 de potencia y salen 0.9075 en total, lo que nos deja unas pérdidas por exceso de 0.4217 dB. </a:t>
            </a:r>
          </a:p>
          <a:p>
            <a:pPr algn="just"/>
            <a:r>
              <a:rPr lang="es-ES" sz="1200" dirty="0">
                <a:latin typeface="Arial" panose="020B0604020202020204" pitchFamily="34" charset="0"/>
                <a:cs typeface="Arial" panose="020B0604020202020204" pitchFamily="34" charset="0"/>
              </a:rPr>
              <a:t>Si miramos las dos salidas, la potencia se divide en 0.4675 y 0.4399, que porcentualmente es un 51.52% y un 48.48%, respectivamente, lo cual se desvía ligeramente del ideal 50/50, ya que todavía no se han optimizado los parámetros. Estas altas pérdidas y el ligero desequilibrio de potencia de las salidas, provocan que se deba optimizar el diseño en las siguientes diapositivas.</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EC00490-98B7-603B-5A6D-7CDF9BDB0752}"/>
              </a:ext>
            </a:extLst>
          </p:cNvPr>
          <p:cNvPicPr>
            <a:picLocks noChangeAspect="1"/>
          </p:cNvPicPr>
          <p:nvPr/>
        </p:nvPicPr>
        <p:blipFill>
          <a:blip r:embed="rId4"/>
          <a:stretch>
            <a:fillRect/>
          </a:stretch>
        </p:blipFill>
        <p:spPr>
          <a:xfrm>
            <a:off x="7157149" y="1529123"/>
            <a:ext cx="3934374" cy="3000794"/>
          </a:xfrm>
          <a:prstGeom prst="rect">
            <a:avLst/>
          </a:prstGeom>
        </p:spPr>
      </p:pic>
      <p:pic>
        <p:nvPicPr>
          <p:cNvPr id="9" name="Imagen 8">
            <a:extLst>
              <a:ext uri="{FF2B5EF4-FFF2-40B4-BE49-F238E27FC236}">
                <a16:creationId xmlns:a16="http://schemas.microsoft.com/office/drawing/2014/main" id="{EDC78534-AA7F-9B46-1109-4A0DB0D9285B}"/>
              </a:ext>
            </a:extLst>
          </p:cNvPr>
          <p:cNvPicPr>
            <a:picLocks noChangeAspect="1"/>
          </p:cNvPicPr>
          <p:nvPr/>
        </p:nvPicPr>
        <p:blipFill>
          <a:blip r:embed="rId5"/>
          <a:stretch>
            <a:fillRect/>
          </a:stretch>
        </p:blipFill>
        <p:spPr>
          <a:xfrm>
            <a:off x="900319" y="2029016"/>
            <a:ext cx="5381625" cy="2219325"/>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Al realizar un ajuste en la longitud del MMI (con un incremento negativo de -0.55</a:t>
            </a:r>
            <a:r>
              <a:rPr lang="el-GR" sz="1200" dirty="0">
                <a:latin typeface="Arial" panose="020B0604020202020204" pitchFamily="34" charset="0"/>
                <a:ea typeface="Cambria Math" panose="02040503050406030204" pitchFamily="18" charset="0"/>
                <a:cs typeface="Arial" panose="020B0604020202020204" pitchFamily="34" charset="0"/>
              </a:rPr>
              <a:t> 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s-ES" sz="1200" dirty="0">
                <a:latin typeface="Arial" panose="020B0604020202020204" pitchFamily="34" charset="0"/>
                <a:cs typeface="Arial" panose="020B0604020202020204" pitchFamily="34" charset="0"/>
              </a:rPr>
              <a:t>), se logra optimizar el dispositivo para que el reparto de potencia sea casi perfecto. En las salidas obtenemos un ratio de 50.53% / 49.47%, lo que nos acerca más al comportamiento ideal de un acoplador 50/50. </a:t>
            </a:r>
          </a:p>
          <a:p>
            <a:pPr algn="just"/>
            <a:r>
              <a:rPr lang="es-ES" sz="1200" dirty="0">
                <a:latin typeface="Arial" panose="020B0604020202020204" pitchFamily="34" charset="0"/>
                <a:cs typeface="Arial" panose="020B0604020202020204" pitchFamily="34" charset="0"/>
              </a:rPr>
              <a:t>Además, gracias a este cambio, las pérdidas por exceso bajan hasta los 0.3896 dB, mejorando la eficiencia general. </a:t>
            </a:r>
          </a:p>
          <a:p>
            <a:pPr algn="just"/>
            <a:r>
              <a:rPr lang="es-ES" sz="1200" dirty="0">
                <a:latin typeface="Arial" panose="020B0604020202020204" pitchFamily="34" charset="0"/>
                <a:cs typeface="Arial" panose="020B0604020202020204" pitchFamily="34" charset="0"/>
              </a:rPr>
              <a:t>Este resultado positivo se debe a que, al modificar ligeramente la longitud, la condición de autoimagen se cumple con mayor precisión justo donde empiezan las guías de salida, capturando mejor los máximos de intensidad de la luz, como se puede ver en la imagen de la propagación EME.</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38BE47FF-0591-82E6-63B8-28F19CF3233E}"/>
              </a:ext>
            </a:extLst>
          </p:cNvPr>
          <p:cNvPicPr>
            <a:picLocks noChangeAspect="1"/>
          </p:cNvPicPr>
          <p:nvPr/>
        </p:nvPicPr>
        <p:blipFill>
          <a:blip r:embed="rId4"/>
          <a:stretch>
            <a:fillRect/>
          </a:stretch>
        </p:blipFill>
        <p:spPr>
          <a:xfrm>
            <a:off x="801380" y="1789350"/>
            <a:ext cx="5381625" cy="2238375"/>
          </a:xfrm>
          <a:prstGeom prst="rect">
            <a:avLst/>
          </a:prstGeom>
        </p:spPr>
      </p:pic>
      <p:pic>
        <p:nvPicPr>
          <p:cNvPr id="11" name="Imagen 10">
            <a:extLst>
              <a:ext uri="{FF2B5EF4-FFF2-40B4-BE49-F238E27FC236}">
                <a16:creationId xmlns:a16="http://schemas.microsoft.com/office/drawing/2014/main" id="{ABD2A760-E5BD-1DF7-F516-F11A96FF18C4}"/>
              </a:ext>
            </a:extLst>
          </p:cNvPr>
          <p:cNvPicPr>
            <a:picLocks noChangeAspect="1"/>
          </p:cNvPicPr>
          <p:nvPr/>
        </p:nvPicPr>
        <p:blipFill>
          <a:blip r:embed="rId5"/>
          <a:stretch>
            <a:fillRect/>
          </a:stretch>
        </p:blipFill>
        <p:spPr>
          <a:xfrm>
            <a:off x="7239444" y="1577759"/>
            <a:ext cx="3762900" cy="2905530"/>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503032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Al incrementar la anchura de las guías de entrada y salida con un incremento de 0.80</a:t>
            </a:r>
            <a:r>
              <a:rPr lang="el-GR" sz="1200" dirty="0">
                <a:latin typeface="Arial" panose="020B0604020202020204" pitchFamily="34" charset="0"/>
                <a:ea typeface="Cambria Math" panose="02040503050406030204" pitchFamily="18" charset="0"/>
                <a:cs typeface="Arial" panose="020B0604020202020204" pitchFamily="34" charset="0"/>
              </a:rPr>
              <a:t> 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s-ES" sz="1200" dirty="0">
                <a:latin typeface="Arial" panose="020B0604020202020204" pitchFamily="34" charset="0"/>
                <a:cs typeface="Arial" panose="020B0604020202020204" pitchFamily="34" charset="0"/>
              </a:rPr>
              <a:t>, se consigue una adaptación de los modos mucho más eficiente con el cuerpo del MMI. Esto permite obtener un reparto de potencia equilibrado entre ambas salidas, alcanzando un ratio del 50.58% / 49.42%, lo cual se acerca aún más al caso ideal. Además, se observa una reducción muy significativa en las pérdidas por exceso, logrando un valor de apenas 0.0970 dB. Este resultado cumple con el objetivo del diseño (pérdidas &lt; 0.1 dB) y confirma que ensanchar las guías mejora significativamente el acoplamiento global del dispositivo.</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688F919-A02B-E582-8E91-A70E99DEE40E}"/>
              </a:ext>
            </a:extLst>
          </p:cNvPr>
          <p:cNvPicPr>
            <a:picLocks noChangeAspect="1"/>
          </p:cNvPicPr>
          <p:nvPr/>
        </p:nvPicPr>
        <p:blipFill>
          <a:blip r:embed="rId4"/>
          <a:stretch>
            <a:fillRect/>
          </a:stretch>
        </p:blipFill>
        <p:spPr>
          <a:xfrm>
            <a:off x="790628" y="1797088"/>
            <a:ext cx="5656399" cy="2322628"/>
          </a:xfrm>
          <a:prstGeom prst="rect">
            <a:avLst/>
          </a:prstGeom>
        </p:spPr>
      </p:pic>
      <p:pic>
        <p:nvPicPr>
          <p:cNvPr id="9" name="Imagen 8">
            <a:extLst>
              <a:ext uri="{FF2B5EF4-FFF2-40B4-BE49-F238E27FC236}">
                <a16:creationId xmlns:a16="http://schemas.microsoft.com/office/drawing/2014/main" id="{9DCE9FC8-CFB4-9FF9-4716-94D6ACC17550}"/>
              </a:ext>
            </a:extLst>
          </p:cNvPr>
          <p:cNvPicPr>
            <a:picLocks noChangeAspect="1"/>
          </p:cNvPicPr>
          <p:nvPr/>
        </p:nvPicPr>
        <p:blipFill>
          <a:blip r:embed="rId5"/>
          <a:stretch>
            <a:fillRect/>
          </a:stretch>
        </p:blipFill>
        <p:spPr>
          <a:xfrm>
            <a:off x="7130674" y="1596811"/>
            <a:ext cx="3791479" cy="2867425"/>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 ? 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Para el acoplador MMI 1x4, se ha logrado un reparto de potencia simétrico entre los cuatro puertos de salida. Los ratios obtenidos son de 24.45%, 25.55%, 25.55% y 24.45%, valores que se encuentran muy cerca del 25% ideal para un divisor uniforme. El dispositivo tiene un buen rendimiento con unas pérdidas por exceso de 0.0894 dB, cumpliendo con el objetivo de diseño de estar por debajo de 0.1 dB. </a:t>
            </a:r>
          </a:p>
          <a:p>
            <a:pPr algn="just"/>
            <a:r>
              <a:rPr lang="es-ES" sz="1200" dirty="0">
                <a:latin typeface="Arial" panose="020B0604020202020204" pitchFamily="34" charset="0"/>
                <a:cs typeface="Arial" panose="020B0604020202020204" pitchFamily="34" charset="0"/>
              </a:rPr>
              <a:t>Estos resultados confirman que tanto el ajuste de la longitud como el ensanchamiento de las guías de entrada y salida permiten una formación precisa de las autoimágenes, garantizando una transferencia de energía eficiente y equilibrada hacia todas las salidas.</a:t>
            </a:r>
            <a:endParaRPr lang="en-US" sz="1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C8A0A4BE-AA9B-4BAE-3C9A-AD2A4884C151}"/>
              </a:ext>
            </a:extLst>
          </p:cNvPr>
          <p:cNvPicPr>
            <a:picLocks noChangeAspect="1"/>
          </p:cNvPicPr>
          <p:nvPr/>
        </p:nvPicPr>
        <p:blipFill>
          <a:blip r:embed="rId4"/>
          <a:stretch>
            <a:fillRect/>
          </a:stretch>
        </p:blipFill>
        <p:spPr>
          <a:xfrm>
            <a:off x="742076" y="1787511"/>
            <a:ext cx="5467350" cy="2486025"/>
          </a:xfrm>
          <a:prstGeom prst="rect">
            <a:avLst/>
          </a:prstGeom>
        </p:spPr>
      </p:pic>
      <p:pic>
        <p:nvPicPr>
          <p:cNvPr id="9" name="Imagen 8">
            <a:extLst>
              <a:ext uri="{FF2B5EF4-FFF2-40B4-BE49-F238E27FC236}">
                <a16:creationId xmlns:a16="http://schemas.microsoft.com/office/drawing/2014/main" id="{14929818-4309-2E45-BC91-DA630BBD8D62}"/>
              </a:ext>
            </a:extLst>
          </p:cNvPr>
          <p:cNvPicPr>
            <a:picLocks noChangeAspect="1"/>
          </p:cNvPicPr>
          <p:nvPr/>
        </p:nvPicPr>
        <p:blipFill>
          <a:blip r:embed="rId5"/>
          <a:stretch>
            <a:fillRect/>
          </a:stretch>
        </p:blipFill>
        <p:spPr>
          <a:xfrm>
            <a:off x="6987569" y="1970146"/>
            <a:ext cx="4462355" cy="2227402"/>
          </a:xfrm>
          <a:prstGeom prst="rect">
            <a:avLst/>
          </a:prstGeom>
        </p:spPr>
      </p:pic>
      <p:sp>
        <p:nvSpPr>
          <p:cNvPr id="4" name="Rectángulo 3">
            <a:extLst>
              <a:ext uri="{FF2B5EF4-FFF2-40B4-BE49-F238E27FC236}">
                <a16:creationId xmlns:a16="http://schemas.microsoft.com/office/drawing/2014/main" id="{5CB689A9-82C9-3821-B8D6-C1EA7B7AE5C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9864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 – Directional coupler gap dependence</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943837"/>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Al incrementar el gap entre las guías, se observa que la longitud de acoplo 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s-ES" sz="1200" dirty="0">
                <a:latin typeface="Arial" panose="020B0604020202020204" pitchFamily="34" charset="0"/>
                <a:cs typeface="Arial" panose="020B0604020202020204" pitchFamily="34" charset="0"/>
              </a:rPr>
              <a:t>crece en todos los casos debido a que el acoplamiento se debilita al haber menos solapamiento entre campos. </a:t>
            </a:r>
          </a:p>
          <a:p>
            <a:pPr algn="just"/>
            <a:r>
              <a:rPr lang="es-ES" sz="1200" dirty="0">
                <a:latin typeface="Arial" panose="020B0604020202020204" pitchFamily="34" charset="0"/>
                <a:cs typeface="Arial" panose="020B0604020202020204" pitchFamily="34" charset="0"/>
              </a:rPr>
              <a:t>En las guías Deep, este aumento es bastante brusco para la polarización TE (línea verde), disparándose por encima de los 8000</a:t>
            </a:r>
            <a:r>
              <a:rPr lang="el-GR" sz="1200" dirty="0">
                <a:latin typeface="Arial" panose="020B0604020202020204" pitchFamily="34" charset="0"/>
                <a:ea typeface="Cambria Math" panose="02040503050406030204" pitchFamily="18" charset="0"/>
                <a:cs typeface="Arial" panose="020B0604020202020204" pitchFamily="34" charset="0"/>
              </a:rPr>
              <a:t>μ</a:t>
            </a:r>
            <a:r>
              <a:rPr lang="es-ES" sz="1200" dirty="0">
                <a:latin typeface="Arial" panose="020B0604020202020204" pitchFamily="34" charset="0"/>
                <a:ea typeface="Cambria Math" panose="02040503050406030204" pitchFamily="18" charset="0"/>
                <a:cs typeface="Arial" panose="020B0604020202020204" pitchFamily="34" charset="0"/>
              </a:rPr>
              <a:t>m</a:t>
            </a:r>
            <a:r>
              <a:rPr lang="es-ES" sz="1200" dirty="0">
                <a:latin typeface="Arial" panose="020B0604020202020204" pitchFamily="34" charset="0"/>
                <a:cs typeface="Arial" panose="020B0604020202020204" pitchFamily="34" charset="0"/>
              </a:rPr>
              <a:t>, lo que demuestra que su alto confinamiento hace que el acoplo desaparezca casi por completo al alejarlas. </a:t>
            </a:r>
          </a:p>
          <a:p>
            <a:pPr algn="just"/>
            <a:r>
              <a:rPr lang="es-ES" sz="1200" dirty="0">
                <a:latin typeface="Arial" panose="020B0604020202020204" pitchFamily="34" charset="0"/>
                <a:cs typeface="Arial" panose="020B0604020202020204" pitchFamily="34" charset="0"/>
              </a:rPr>
              <a:t>En cambio, en las guías Shallow, el crecimiento de 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s-ES" sz="1200" dirty="0">
                <a:latin typeface="Arial" panose="020B0604020202020204" pitchFamily="34" charset="0"/>
                <a:cs typeface="Arial" panose="020B0604020202020204" pitchFamily="34" charset="0"/>
              </a:rPr>
              <a:t>es más moderado y equilibrado, aunque en este caso es la polarización TM (línea roja) la que sube con más fuerza al final. Estas diferencias entre TE y TM confirman que cada polarización tiene un nivel de confinamiento distinto, siendo la guía Shallow la que permite mantener el acoplamiento a mayores distancias por la extensión del modo hacia 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6702A475-6496-4C8D-EB50-753E3276EF7B}"/>
              </a:ext>
            </a:extLst>
          </p:cNvPr>
          <p:cNvPicPr>
            <a:picLocks noChangeAspect="1"/>
          </p:cNvPicPr>
          <p:nvPr/>
        </p:nvPicPr>
        <p:blipFill>
          <a:blip r:embed="rId4"/>
          <a:stretch>
            <a:fillRect/>
          </a:stretch>
        </p:blipFill>
        <p:spPr>
          <a:xfrm>
            <a:off x="1034290" y="1605431"/>
            <a:ext cx="4636860" cy="3060849"/>
          </a:xfrm>
          <a:prstGeom prst="rect">
            <a:avLst/>
          </a:prstGeom>
        </p:spPr>
      </p:pic>
      <p:pic>
        <p:nvPicPr>
          <p:cNvPr id="12" name="Imagen 11">
            <a:extLst>
              <a:ext uri="{FF2B5EF4-FFF2-40B4-BE49-F238E27FC236}">
                <a16:creationId xmlns:a16="http://schemas.microsoft.com/office/drawing/2014/main" id="{598A93AA-EE40-DF81-E1B7-442769A57745}"/>
              </a:ext>
            </a:extLst>
          </p:cNvPr>
          <p:cNvPicPr>
            <a:picLocks noChangeAspect="1"/>
          </p:cNvPicPr>
          <p:nvPr/>
        </p:nvPicPr>
        <p:blipFill>
          <a:blip r:embed="rId5"/>
          <a:stretch>
            <a:fillRect/>
          </a:stretch>
        </p:blipFill>
        <p:spPr>
          <a:xfrm>
            <a:off x="6817720" y="1520808"/>
            <a:ext cx="4636861" cy="3091240"/>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a:t>Extra #2 – Directional wavelength dependence</a:t>
            </a:r>
            <a:br>
              <a:rPr lang="en-US" sz="2500"/>
            </a:br>
            <a:r>
              <a:rPr lang="en-US" b="0"/>
              <a:t>Wavelengths </a:t>
            </a:r>
            <a:r>
              <a:rPr lang="en-US"/>
              <a:t>from 1.5 to 1.7 µm</a:t>
            </a:r>
            <a:r>
              <a:rPr lang="en-US" b="0"/>
              <a:t>, gap = 0.6 µm, width 1.0 µm</a:t>
            </a:r>
            <a:br>
              <a:rPr lang="en-US" b="0"/>
            </a:b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Al aumentar la longitud de onda, los modos tienden a estar menos confinados, lo que hace que el campo se expanda y el acoplamiento sea más fuerte, reduciendo así la longitud de acoplo L</a:t>
            </a:r>
            <a:r>
              <a:rPr lang="es-ES" sz="1200" dirty="0">
                <a:latin typeface="Arial" panose="020B0604020202020204" pitchFamily="34" charset="0"/>
                <a:ea typeface="Cambria Math" panose="02040503050406030204" pitchFamily="18" charset="0"/>
                <a:cs typeface="Arial" panose="020B0604020202020204" pitchFamily="34" charset="0"/>
              </a:rPr>
              <a:t>π. </a:t>
            </a:r>
          </a:p>
          <a:p>
            <a:pPr algn="just"/>
            <a:r>
              <a:rPr lang="es-ES" sz="1200" dirty="0">
                <a:latin typeface="Arial" panose="020B0604020202020204" pitchFamily="34" charset="0"/>
                <a:cs typeface="Arial" panose="020B0604020202020204" pitchFamily="34" charset="0"/>
              </a:rPr>
              <a:t>En las guías Deep, se observa una caída suave y constante tanto para el modo TE como para el TM, aunque el modo TE siempre necesita una distancia de acoplo mayor. Sin embargo, en las guías Shallow, el comportamiento es distinto: mientras que el modo TE se mantiene estable y casi no varía con la longitud de onda, el modo TM cae drásticamente al principio y luego se estabiliza. Esto indica que las guías Shallow son mucho más sensibles a cambios espectrales en polarización TM, pero resultan ser muy robustas y fiables si se trabaja con polarización TE.</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DA44E62D-ACE3-7548-92D7-911D373A19D0}"/>
              </a:ext>
            </a:extLst>
          </p:cNvPr>
          <p:cNvPicPr>
            <a:picLocks noChangeAspect="1"/>
          </p:cNvPicPr>
          <p:nvPr/>
        </p:nvPicPr>
        <p:blipFill>
          <a:blip r:embed="rId4"/>
          <a:stretch>
            <a:fillRect/>
          </a:stretch>
        </p:blipFill>
        <p:spPr>
          <a:xfrm>
            <a:off x="759469" y="1566397"/>
            <a:ext cx="5186502" cy="3029065"/>
          </a:xfrm>
          <a:prstGeom prst="rect">
            <a:avLst/>
          </a:prstGeom>
        </p:spPr>
      </p:pic>
      <p:pic>
        <p:nvPicPr>
          <p:cNvPr id="12" name="Imagen 11">
            <a:extLst>
              <a:ext uri="{FF2B5EF4-FFF2-40B4-BE49-F238E27FC236}">
                <a16:creationId xmlns:a16="http://schemas.microsoft.com/office/drawing/2014/main" id="{A383E1F7-75B5-0138-0A3E-490EECE5DE96}"/>
              </a:ext>
            </a:extLst>
          </p:cNvPr>
          <p:cNvPicPr>
            <a:picLocks noChangeAspect="1"/>
          </p:cNvPicPr>
          <p:nvPr/>
        </p:nvPicPr>
        <p:blipFill>
          <a:blip r:embed="rId5"/>
          <a:stretch>
            <a:fillRect/>
          </a:stretch>
        </p:blipFill>
        <p:spPr>
          <a:xfrm>
            <a:off x="6619589" y="1606166"/>
            <a:ext cx="5124508" cy="2989296"/>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el acoplador MMI, 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s-ES" sz="1200" dirty="0">
                <a:latin typeface="Arial" panose="020B0604020202020204" pitchFamily="34" charset="0"/>
                <a:cs typeface="Arial" panose="020B0604020202020204" pitchFamily="34" charset="0"/>
              </a:rPr>
              <a:t>decrece de manera gradual y casi lineal al incrementar la longitud de onda, tanto en la configuración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como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manteniéndose la diferencia entre TE y TM prácticamente constante en todo el rango analizado.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Este comportamiento contrasta claramente con el del acoplador direccional, donde la longitud de acoplamiento presenta una caída mucho más pronunciada con la longitud de onda. La mayor estabilidad del MMI se explica por su principio de funcionamiento, basado en la interferencia multimodo y la formación de autoimágenes en la región ancha, lo que lo convierte en una solución más robusta frente a variaciones espectrales y tolerancias de fabricación.</a:t>
            </a:r>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8" name="Imagen 7">
            <a:extLst>
              <a:ext uri="{FF2B5EF4-FFF2-40B4-BE49-F238E27FC236}">
                <a16:creationId xmlns:a16="http://schemas.microsoft.com/office/drawing/2014/main" id="{474A4895-04EF-3C6C-6F80-06C84D952694}"/>
              </a:ext>
            </a:extLst>
          </p:cNvPr>
          <p:cNvPicPr>
            <a:picLocks noChangeAspect="1"/>
          </p:cNvPicPr>
          <p:nvPr/>
        </p:nvPicPr>
        <p:blipFill>
          <a:blip r:embed="rId6"/>
          <a:stretch>
            <a:fillRect/>
          </a:stretch>
        </p:blipFill>
        <p:spPr>
          <a:xfrm>
            <a:off x="798102" y="1643590"/>
            <a:ext cx="5229781" cy="3054342"/>
          </a:xfrm>
          <a:prstGeom prst="rect">
            <a:avLst/>
          </a:prstGeom>
        </p:spPr>
      </p:pic>
      <p:pic>
        <p:nvPicPr>
          <p:cNvPr id="12" name="Imagen 11">
            <a:extLst>
              <a:ext uri="{FF2B5EF4-FFF2-40B4-BE49-F238E27FC236}">
                <a16:creationId xmlns:a16="http://schemas.microsoft.com/office/drawing/2014/main" id="{A8A5F207-0309-F675-FB60-7D8AF5B0B9D0}"/>
              </a:ext>
            </a:extLst>
          </p:cNvPr>
          <p:cNvPicPr>
            <a:picLocks noChangeAspect="1"/>
          </p:cNvPicPr>
          <p:nvPr/>
        </p:nvPicPr>
        <p:blipFill>
          <a:blip r:embed="rId7"/>
          <a:stretch>
            <a:fillRect/>
          </a:stretch>
        </p:blipFill>
        <p:spPr>
          <a:xfrm>
            <a:off x="6578517" y="1643590"/>
            <a:ext cx="5156331" cy="3011445"/>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No, no existe ningún punto en el que el MMI funcione de forma idéntica para TE y TM. Como se observa en ambas gráficas (para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las curvas de L</a:t>
            </a:r>
            <a:r>
              <a:rPr lang="es-ES" sz="1200" dirty="0">
                <a:latin typeface="Arial" panose="020B0604020202020204" pitchFamily="34" charset="0"/>
                <a:ea typeface="Cambria Math" panose="02040503050406030204" pitchFamily="18" charset="0"/>
                <a:cs typeface="Arial" panose="020B0604020202020204" pitchFamily="34" charset="0"/>
              </a:rPr>
              <a:t>π</a:t>
            </a:r>
            <a:r>
              <a:rPr lang="es-ES" sz="1200" dirty="0">
                <a:latin typeface="Arial" panose="020B0604020202020204" pitchFamily="34" charset="0"/>
                <a:cs typeface="Arial" panose="020B0604020202020204" pitchFamily="34" charset="0"/>
              </a:rPr>
              <a:t>_TE (verde) y L</a:t>
            </a:r>
            <a:r>
              <a:rPr lang="es-ES" sz="1200" dirty="0">
                <a:latin typeface="Arial" panose="020B0604020202020204" pitchFamily="34" charset="0"/>
                <a:ea typeface="Cambria Math" panose="02040503050406030204" pitchFamily="18" charset="0"/>
                <a:cs typeface="Arial" panose="020B0604020202020204" pitchFamily="34" charset="0"/>
              </a:rPr>
              <a:t>π</a:t>
            </a:r>
            <a:r>
              <a:rPr lang="es-ES" sz="1200" dirty="0">
                <a:latin typeface="Arial" panose="020B0604020202020204" pitchFamily="34" charset="0"/>
                <a:cs typeface="Arial" panose="020B0604020202020204" pitchFamily="34" charset="0"/>
              </a:rPr>
              <a:t>_TM (rojo) nunca se cruzan en el rango de anchuras estudiado (5-10 µm). Esto se debe a que TE y TM tienen índices efectivos diferentes debido a la asimetría geométrica de la guía de onda (altura ≠ anchura), lo que provoca que sus longitudes de acoplamiento L</a:t>
            </a:r>
            <a:r>
              <a:rPr lang="es-ES" sz="1200" dirty="0">
                <a:latin typeface="Arial" panose="020B0604020202020204" pitchFamily="34" charset="0"/>
                <a:ea typeface="Cambria Math" panose="02040503050406030204" pitchFamily="18" charset="0"/>
                <a:cs typeface="Arial" panose="020B0604020202020204" pitchFamily="34" charset="0"/>
              </a:rPr>
              <a:t>π </a:t>
            </a:r>
            <a:r>
              <a:rPr lang="es-ES" sz="1200" dirty="0">
                <a:latin typeface="Arial" panose="020B0604020202020204" pitchFamily="34" charset="0"/>
                <a:cs typeface="Arial" panose="020B0604020202020204" pitchFamily="34" charset="0"/>
              </a:rPr>
              <a:t>sean siempre distintas. Para conseguir un acoplador independiente de polarización sería necesario utilizar una guía donde </a:t>
            </a:r>
            <a:r>
              <a:rPr lang="es-ES" sz="1200" dirty="0" err="1">
                <a:latin typeface="Arial" panose="020B0604020202020204" pitchFamily="34" charset="0"/>
                <a:cs typeface="Arial" panose="020B0604020202020204" pitchFamily="34" charset="0"/>
              </a:rPr>
              <a:t>n_eff_TE</a:t>
            </a:r>
            <a:r>
              <a:rPr lang="es-ES" sz="1200" dirty="0">
                <a:latin typeface="Arial" panose="020B0604020202020204" pitchFamily="34" charset="0"/>
                <a:cs typeface="Arial" panose="020B0604020202020204" pitchFamily="34" charset="0"/>
              </a:rPr>
              <a:t> = </a:t>
            </a:r>
            <a:r>
              <a:rPr lang="es-ES" sz="1200" dirty="0" err="1">
                <a:latin typeface="Arial" panose="020B0604020202020204" pitchFamily="34" charset="0"/>
                <a:cs typeface="Arial" panose="020B0604020202020204" pitchFamily="34" charset="0"/>
              </a:rPr>
              <a:t>n_eff_TM</a:t>
            </a:r>
            <a:r>
              <a:rPr lang="es-ES" sz="1200" dirty="0">
                <a:latin typeface="Arial" panose="020B0604020202020204" pitchFamily="34" charset="0"/>
                <a:cs typeface="Arial" panose="020B0604020202020204" pitchFamily="34" charset="0"/>
              </a:rPr>
              <a:t>, lo cual no ocurre en este diseño.</a:t>
            </a:r>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14" name="Imagen 13">
            <a:extLst>
              <a:ext uri="{FF2B5EF4-FFF2-40B4-BE49-F238E27FC236}">
                <a16:creationId xmlns:a16="http://schemas.microsoft.com/office/drawing/2014/main" id="{AD65EA0E-387A-72F3-1572-BD95572AA321}"/>
              </a:ext>
            </a:extLst>
          </p:cNvPr>
          <p:cNvPicPr>
            <a:picLocks noChangeAspect="1"/>
          </p:cNvPicPr>
          <p:nvPr/>
        </p:nvPicPr>
        <p:blipFill>
          <a:blip r:embed="rId6"/>
          <a:stretch>
            <a:fillRect/>
          </a:stretch>
        </p:blipFill>
        <p:spPr>
          <a:xfrm>
            <a:off x="6787438" y="1560793"/>
            <a:ext cx="4554530" cy="3080042"/>
          </a:xfrm>
          <a:prstGeom prst="rect">
            <a:avLst/>
          </a:prstGeom>
        </p:spPr>
      </p:pic>
      <p:pic>
        <p:nvPicPr>
          <p:cNvPr id="17" name="Imagen 16">
            <a:extLst>
              <a:ext uri="{FF2B5EF4-FFF2-40B4-BE49-F238E27FC236}">
                <a16:creationId xmlns:a16="http://schemas.microsoft.com/office/drawing/2014/main" id="{34B4490B-5CCC-982A-6302-8386632EE9DA}"/>
              </a:ext>
            </a:extLst>
          </p:cNvPr>
          <p:cNvPicPr>
            <a:picLocks noChangeAspect="1"/>
          </p:cNvPicPr>
          <p:nvPr/>
        </p:nvPicPr>
        <p:blipFill>
          <a:blip r:embed="rId7"/>
          <a:stretch>
            <a:fillRect/>
          </a:stretch>
        </p:blipFill>
        <p:spPr>
          <a:xfrm>
            <a:off x="991371" y="1594332"/>
            <a:ext cx="4554530" cy="3080042"/>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60c4169-c067-4dfc-b212-3b05d96a7ec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750D0F23108224F90FEF5B9FC8631C3" ma:contentTypeVersion="12" ma:contentTypeDescription="Crear nuevo documento." ma:contentTypeScope="" ma:versionID="1104cd537116c8bfa69b845163253e98">
  <xsd:schema xmlns:xsd="http://www.w3.org/2001/XMLSchema" xmlns:xs="http://www.w3.org/2001/XMLSchema" xmlns:p="http://schemas.microsoft.com/office/2006/metadata/properties" xmlns:ns3="628a1654-b00c-40ae-8883-19ab0b2b6570" xmlns:ns4="c60c4169-c067-4dfc-b212-3b05d96a7ecd" targetNamespace="http://schemas.microsoft.com/office/2006/metadata/properties" ma:root="true" ma:fieldsID="d2b9e67b5497d281187a192fa1d5ee7f" ns3:_="" ns4:_="">
    <xsd:import namespace="628a1654-b00c-40ae-8883-19ab0b2b6570"/>
    <xsd:import namespace="c60c4169-c067-4dfc-b212-3b05d96a7ec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_activity" minOccurs="0"/>
                <xsd:element ref="ns4:MediaServiceSearchProperties" minOccurs="0"/>
                <xsd:element ref="ns4:MediaServiceSystemTags" minOccurs="0"/>
                <xsd:element ref="ns4:MediaServiceGenerationTime" minOccurs="0"/>
                <xsd:element ref="ns4:MediaServiceEventHashCode"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a1654-b00c-40ae-8883-19ab0b2b6570"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60c4169-c067-4dfc-b212-3b05d96a7ec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C6DA23-6D36-4E5F-A752-AE1E00914A97}">
  <ds:schemaRefs>
    <ds:schemaRef ds:uri="http://purl.org/dc/terms/"/>
    <ds:schemaRef ds:uri="http://schemas.openxmlformats.org/package/2006/metadata/core-properties"/>
    <ds:schemaRef ds:uri="http://schemas.microsoft.com/office/infopath/2007/PartnerControls"/>
    <ds:schemaRef ds:uri="http://purl.org/dc/elements/1.1/"/>
    <ds:schemaRef ds:uri="http://purl.org/dc/dcmitype/"/>
    <ds:schemaRef ds:uri="http://schemas.microsoft.com/office/2006/metadata/properties"/>
    <ds:schemaRef ds:uri="http://schemas.microsoft.com/office/2006/documentManagement/types"/>
    <ds:schemaRef ds:uri="c60c4169-c067-4dfc-b212-3b05d96a7ecd"/>
    <ds:schemaRef ds:uri="628a1654-b00c-40ae-8883-19ab0b2b6570"/>
    <ds:schemaRef ds:uri="http://www.w3.org/XML/1998/namespace"/>
  </ds:schemaRefs>
</ds:datastoreItem>
</file>

<file path=customXml/itemProps2.xml><?xml version="1.0" encoding="utf-8"?>
<ds:datastoreItem xmlns:ds="http://schemas.openxmlformats.org/officeDocument/2006/customXml" ds:itemID="{876BA1E4-519E-47F7-82A9-2A6F535F7CE5}">
  <ds:schemaRefs>
    <ds:schemaRef ds:uri="http://schemas.microsoft.com/sharepoint/v3/contenttype/forms"/>
  </ds:schemaRefs>
</ds:datastoreItem>
</file>

<file path=customXml/itemProps3.xml><?xml version="1.0" encoding="utf-8"?>
<ds:datastoreItem xmlns:ds="http://schemas.openxmlformats.org/officeDocument/2006/customXml" ds:itemID="{AEE9A8B6-1890-48DB-8949-3B3CF20D6DF3}">
  <ds:schemaRefs>
    <ds:schemaRef ds:uri="628a1654-b00c-40ae-8883-19ab0b2b6570"/>
    <ds:schemaRef ds:uri="c60c4169-c067-4dfc-b212-3b05d96a7e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336</TotalTime>
  <Words>2623</Words>
  <Application>Microsoft Office PowerPoint</Application>
  <PresentationFormat>Panorámica</PresentationFormat>
  <Paragraphs>185</Paragraphs>
  <Slides>21</Slides>
  <Notes>15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Presentación de PowerPoint</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Presentación de PowerPoint</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Antonio Gonzalez Lopez</cp:lastModifiedBy>
  <cp:revision>2</cp:revision>
  <dcterms:created xsi:type="dcterms:W3CDTF">2025-01-27T02:46:57Z</dcterms:created>
  <dcterms:modified xsi:type="dcterms:W3CDTF">2026-05-03T15:44:39Z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0x0101007750D0F23108224F90FEF5B9FC8631C3</vt:lpwstr>
  </property>
</Properties>
</file>